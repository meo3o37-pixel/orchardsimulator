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8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14"/>
  </p:sldIdLst>
  <p:sldSz cx="12192000" cy="6858000"/>
  <p:notesSz cx="6858000" cy="9144000"/>
  <p:defaultTextStyle>
    <a:defPPr>
      <a:defRPr lang="en-US">
        <a:latin typeface="맑은 고딕"/>
        <a:ea typeface="맑은 고딕"/>
        <a:cs typeface="맑은 고딕"/>
        <a:solidFill>
          <a:srgbClr val="000000"/>
        </a:solidFill>
      </a:defRPr>
    </a:defPPr>
    <a:lvl1pPr marL="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1pPr>
    <a:lvl2pPr marL="4572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2pPr>
    <a:lvl3pPr marL="9144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3pPr>
    <a:lvl4pPr marL="13716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4pPr>
    <a:lvl5pPr marL="18288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5pPr>
    <a:lvl6pPr marL="22860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6pPr>
    <a:lvl7pPr marL="27432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7pPr>
    <a:lvl8pPr marL="32004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8pPr>
    <a:lvl9pPr marL="36576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tableStyles" Target="tableStyle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theme" Target="theme/theme1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viewProps" Target="viewProps.xml" /><ns0:Relationship Id="rId5" Type="http://schemas.openxmlformats.org/officeDocument/2006/relationships/slide" Target="slides/slide4.xml" /><ns0:Relationship Id="rId10" Type="http://schemas.openxmlformats.org/officeDocument/2006/relationships/presProps" Target="presProps.xml" /><ns0:Relationship Id="rId4" Type="http://schemas.openxmlformats.org/officeDocument/2006/relationships/slide" Target="slides/slide3.xml" /><ns0:Relationship Id="rId9" Type="http://schemas.openxmlformats.org/officeDocument/2006/relationships/notesMaster" Target="notesMasters/notesMaster1.xml" /><ns0:Relationship Id="rId14" Type="http://schemas.openxmlformats.org/officeDocument/2006/relationships/slide" Target="slides/slide8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맑은 고딕"/>
        <a:ea typeface="맑은 고딕"/>
        <a:cs typeface="맑은 고딕"/>
        <a:solidFill>
          <a:srgbClr val="000000"/>
        </a:solidFill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ns2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ns2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latin typeface="맑은 고딕"/>
          <a:ea typeface="맑은 고딕"/>
          <a:cs typeface="맑은 고딕"/>
          <a:solidFill>
            <a:srgbClr val="000000"/>
          </a:solidFill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latin typeface="맑은 고딕"/>
          <a:ea typeface="맑은 고딕"/>
          <a:cs typeface="맑은 고딕"/>
          <a:solidFill>
            <a:srgbClr val="000000"/>
          </a:solidFill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latin typeface="맑은 고딕"/>
          <a:ea typeface="맑은 고딕"/>
          <a:cs typeface="맑은 고딕"/>
          <a:solidFill>
            <a:srgbClr val="000000"/>
          </a:solidFill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latin typeface="맑은 고딕"/>
          <a:ea typeface="맑은 고딕"/>
          <a:cs typeface="맑은 고딕"/>
          <a:solidFill>
            <a:srgbClr val="000000"/>
          </a:solidFill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9pPr>
    </p:bodyStyle>
    <p:otherStyle>
      <a:lvl1pPr marL="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1pPr>
      <a:lvl2pPr marL="4572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2pPr>
      <a:lvl3pPr marL="9144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3pPr>
      <a:lvl4pPr marL="13716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4pPr>
      <a:lvl5pPr marL="18288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5pPr>
      <a:lvl6pPr marL="22860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6pPr>
      <a:lvl7pPr marL="27432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7pPr>
      <a:lvl8pPr marL="32004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8pPr>
      <a:lvl9pPr marL="36576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ns2:creationId id="{0540A406-C9EC-4C5A-882A-A15DA0DA9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805F0B93-35B5-47B4-970B-CE5F6A76EA42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7225665"/>
          </a:xfrm>
          <a:prstGeom prst="roundRect">
            <a:avLst>
              <a:gd name="adj" fmla="val 2900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AA544A25-04D1-4731-8ED9-738B91A51E88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2026 청년농 성공농업 노하우 콘테스트 / ④ 창농마인드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1990ECAB-7648-4E20-97E9-5A8A3DD748AB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640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게임으로 배우는</a:t>
            </a:r>
          </a:p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청년농의 현실 판단력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AAFAE2CD-519A-4A8D-9026-EEB565EE9E22}"/>
              </a:ext>
            </a:extLst>
          </p:cNvPr>
          <p:cNvSpPr>
            <a:spLocks noGrp="1"/>
          </p:cNvSpPr>
          <p:nvPr/>
        </p:nvSpPr>
        <p:spPr>
          <a:xfrm>
            <a:off x="628650" y="174879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현실형 과수 농장 시뮬레이션 웹게임 ‘과수 타이쿤’을 통해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청년농이 실제로 마주하는 선택과 운영의 무게를 체험형으로 전달합니다.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7B582548-3160-4481-805D-08AC57F17028}"/>
              </a:ext>
            </a:extLst>
          </p:cNvPr>
          <p:cNvSpPr>
            <a:spLocks noGrp="1"/>
          </p:cNvSpPr>
          <p:nvPr/>
        </p:nvSpPr>
        <p:spPr>
          <a:xfrm>
            <a:off x="628650" y="226314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ns2:creationId id="{8D765F3C-3F72-458D-A090-F816939DD398}"/>
              </a:ext>
            </a:extLst>
          </p:cNvPr>
          <p:cNvSpPr>
            <a:spLocks noGrp="1"/>
          </p:cNvSpPr>
          <p:nvPr/>
        </p:nvSpPr>
        <p:spPr>
          <a:xfrm>
            <a:off x="5562600" y="2463165"/>
            <a:ext cx="5524500" cy="2095500"/>
          </a:xfrm>
          <a:prstGeom prst="roundRect">
            <a:avLst>
              <a:gd name="adj" fmla="val 10909"/>
            </a:avLst>
          </a:prstGeom>
          <a:solidFill>
            <a:srgbClr val="F7F0E4"/>
          </a:solidFill>
        </p:spPr>
      </p:sp>
      <p:sp>
        <p:nvSpPr>
          <p:cNvPr id="9" name="직사각형 8">
            <a:extLst>
              <a:ext uri="{FF2B5EF4-FFF2-40B4-BE49-F238E27FC236}">
                <ns2:creationId id="{51291113-C804-4B04-BB4D-D8F6D9797624}"/>
              </a:ext>
            </a:extLst>
          </p:cNvPr>
          <p:cNvSpPr>
            <a:spLocks noGrp="1"/>
          </p:cNvSpPr>
          <p:nvPr/>
        </p:nvSpPr>
        <p:spPr>
          <a:xfrm>
            <a:off x="5829300" y="2729865"/>
            <a:ext cx="499110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이번 발표의 핵심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FA3ED28D-0DA6-45B2-A011-773453C11C3A}"/>
              </a:ext>
            </a:extLst>
          </p:cNvPr>
          <p:cNvSpPr>
            <a:spLocks noGrp="1"/>
          </p:cNvSpPr>
          <p:nvPr/>
        </p:nvSpPr>
        <p:spPr>
          <a:xfrm>
            <a:off x="5829300" y="3118485"/>
            <a:ext cx="49911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농업을 쉽게 보이게 만드는 콘텐츠가 아니라,</a:t>
            </a:r>
          </a:p>
          <a:p>
            <a:pPr>
              <a:defRPr sz="15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청년농이 가져야 할 판단력과 책임감을 체험하게 만드는 콘텐츠입니다.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779543C4-FA51-4849-9F86-65896706BA1E}"/>
              </a:ext>
            </a:extLst>
          </p:cNvPr>
          <p:cNvSpPr>
            <a:spLocks noGrp="1"/>
          </p:cNvSpPr>
          <p:nvPr/>
        </p:nvSpPr>
        <p:spPr>
          <a:xfrm>
            <a:off x="628650" y="4730115"/>
            <a:ext cx="1123950" cy="304800"/>
          </a:xfrm>
          <a:prstGeom prst="roundRect">
            <a:avLst>
              <a:gd name="adj" fmla="val 50000"/>
            </a:avLst>
          </a:prstGeom>
          <a:solidFill>
            <a:srgbClr val="E7ECD9"/>
          </a:solidFill>
        </p:spPr>
      </p:sp>
      <p:sp>
        <p:nvSpPr>
          <p:cNvPr id="12" name="직사각형 11">
            <a:extLst>
              <a:ext uri="{FF2B5EF4-FFF2-40B4-BE49-F238E27FC236}">
                <ns2:creationId id="{4C345FFE-F4D2-412F-957A-35C8AF2ED805}"/>
              </a:ext>
            </a:extLst>
          </p:cNvPr>
          <p:cNvSpPr>
            <a:spLocks noGrp="1"/>
          </p:cNvSpPr>
          <p:nvPr/>
        </p:nvSpPr>
        <p:spPr>
          <a:xfrm>
            <a:off x="628650" y="4730115"/>
            <a:ext cx="112395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메인메뉴 화면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38802029-B344-4781-B105-27AE980316D0}"/>
              </a:ext>
            </a:extLst>
          </p:cNvPr>
          <p:cNvSpPr>
            <a:spLocks noGrp="1"/>
          </p:cNvSpPr>
          <p:nvPr/>
        </p:nvSpPr>
        <p:spPr>
          <a:xfrm>
            <a:off x="1866900" y="4730115"/>
            <a:ext cx="1200150" cy="304800"/>
          </a:xfrm>
          <a:prstGeom prst="roundRect">
            <a:avLst>
              <a:gd name="adj" fmla="val 50000"/>
            </a:avLst>
          </a:prstGeom>
          <a:solidFill>
            <a:srgbClr val="E6D8C1"/>
          </a:solidFill>
        </p:spPr>
      </p:sp>
      <p:sp>
        <p:nvSpPr>
          <p:cNvPr id="14" name="직사각형 13">
            <a:extLst>
              <a:ext uri="{FF2B5EF4-FFF2-40B4-BE49-F238E27FC236}">
                <ns2:creationId id="{1FAB839B-3968-491E-B514-5E1E468643A7}"/>
              </a:ext>
            </a:extLst>
          </p:cNvPr>
          <p:cNvSpPr>
            <a:spLocks noGrp="1"/>
          </p:cNvSpPr>
          <p:nvPr/>
        </p:nvSpPr>
        <p:spPr>
          <a:xfrm>
            <a:off x="1866900" y="4730115"/>
            <a:ext cx="120015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프로젝트 정체성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423DF69B-D675-472E-AB81-4A5F3E7CC1C4}"/>
              </a:ext>
            </a:extLst>
          </p:cNvPr>
          <p:cNvSpPr>
            <a:spLocks noGrp="1"/>
          </p:cNvSpPr>
          <p:nvPr/>
        </p:nvSpPr>
        <p:spPr>
          <a:xfrm>
            <a:off x="3181350" y="4730115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F7F0E4"/>
          </a:solidFill>
        </p:spPr>
      </p:sp>
      <p:sp>
        <p:nvSpPr>
          <p:cNvPr id="16" name="직사각형 15">
            <a:extLst>
              <a:ext uri="{FF2B5EF4-FFF2-40B4-BE49-F238E27FC236}">
                <ns2:creationId id="{BA2D1ACF-81DA-4221-A276-A17818951FC1}"/>
              </a:ext>
            </a:extLst>
          </p:cNvPr>
          <p:cNvSpPr>
            <a:spLocks noGrp="1"/>
          </p:cNvSpPr>
          <p:nvPr/>
        </p:nvSpPr>
        <p:spPr>
          <a:xfrm>
            <a:off x="3181350" y="4730115"/>
            <a:ext cx="10668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도입 슬라이드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4E371E0F-7A99-484F-A126-16B791E052CD}"/>
              </a:ext>
            </a:extLst>
          </p:cNvPr>
          <p:cNvSpPr>
            <a:spLocks noGrp="1"/>
          </p:cNvSpPr>
          <p:nvPr/>
        </p:nvSpPr>
        <p:spPr>
          <a:xfrm>
            <a:off x="628650" y="5206365"/>
            <a:ext cx="3238500" cy="1771650"/>
          </a:xfrm>
          <a:prstGeom prst="roundRect">
            <a:avLst>
              <a:gd name="adj" fmla="val 9677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ns2:creationId id="{CECD4902-C328-4A03-84D8-0E39EA54CDA2}"/>
              </a:ext>
            </a:extLst>
          </p:cNvPr>
          <p:cNvSpPr>
            <a:spLocks noGrp="1"/>
          </p:cNvSpPr>
          <p:nvPr/>
        </p:nvSpPr>
        <p:spPr>
          <a:xfrm>
            <a:off x="819150" y="539686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첫인상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8365D288-2221-4A4B-9C75-962C48F130B9}"/>
              </a:ext>
            </a:extLst>
          </p:cNvPr>
          <p:cNvSpPr>
            <a:spLocks noGrp="1"/>
          </p:cNvSpPr>
          <p:nvPr/>
        </p:nvSpPr>
        <p:spPr>
          <a:xfrm>
            <a:off x="819150" y="570547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과수 타이쿤이라는 이름과 과수원 배경, 메인 메뉴 구성을 통해 게임의 장르와 분위기를 빠르게 이해하게 만듭니다.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D3D6A8E7-7519-4ADB-A118-3E13C73B7B82}"/>
              </a:ext>
            </a:extLst>
          </p:cNvPr>
          <p:cNvSpPr>
            <a:spLocks noGrp="1"/>
          </p:cNvSpPr>
          <p:nvPr/>
        </p:nvSpPr>
        <p:spPr>
          <a:xfrm>
            <a:off x="4038600" y="5206365"/>
            <a:ext cx="3238500" cy="1771650"/>
          </a:xfrm>
          <a:prstGeom prst="roundRect">
            <a:avLst>
              <a:gd name="adj" fmla="val 9677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ns2:creationId id="{B681F12D-F5DF-414A-A2D8-011A7EDB1EC5}"/>
              </a:ext>
            </a:extLst>
          </p:cNvPr>
          <p:cNvSpPr>
            <a:spLocks noGrp="1"/>
          </p:cNvSpPr>
          <p:nvPr/>
        </p:nvSpPr>
        <p:spPr>
          <a:xfrm>
            <a:off x="4229100" y="539686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도입 역할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F0296265-A44B-4B63-8A69-C20A8D039A0B}"/>
              </a:ext>
            </a:extLst>
          </p:cNvPr>
          <p:cNvSpPr>
            <a:spLocks noGrp="1"/>
          </p:cNvSpPr>
          <p:nvPr/>
        </p:nvSpPr>
        <p:spPr>
          <a:xfrm>
            <a:off x="4229100" y="570547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첫 장에서는 기능 설명보다 ‘청년농의 현실을 다루는 프로젝트’라는 인식을 먼저 심어주는 것이 중요합니다.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6B085BF9-6594-4304-94E9-AE31DE9787DE}"/>
              </a:ext>
            </a:extLst>
          </p:cNvPr>
          <p:cNvSpPr>
            <a:spLocks noGrp="1"/>
          </p:cNvSpPr>
          <p:nvPr/>
        </p:nvSpPr>
        <p:spPr>
          <a:xfrm>
            <a:off x="7448550" y="5206365"/>
            <a:ext cx="3238500" cy="1771650"/>
          </a:xfrm>
          <a:prstGeom prst="roundRect">
            <a:avLst>
              <a:gd name="adj" fmla="val 9677"/>
            </a:avLst>
          </a:prstGeom>
          <a:solidFill>
            <a:srgbClr val="EFE4D1"/>
          </a:solidFill>
          <a:ln w="9525">
            <a:solidFill>
              <a:srgbClr val="D3BEA0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ns2:creationId id="{EED452F3-DEB2-4A71-94D3-351AB5504496}"/>
              </a:ext>
            </a:extLst>
          </p:cNvPr>
          <p:cNvSpPr>
            <a:spLocks noGrp="1"/>
          </p:cNvSpPr>
          <p:nvPr/>
        </p:nvSpPr>
        <p:spPr>
          <a:xfrm>
            <a:off x="7639050" y="539686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발표 연결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5963E9B7-E179-49D9-9360-757529B79DA5}"/>
              </a:ext>
            </a:extLst>
          </p:cNvPr>
          <p:cNvSpPr>
            <a:spLocks noGrp="1"/>
          </p:cNvSpPr>
          <p:nvPr/>
        </p:nvSpPr>
        <p:spPr>
          <a:xfrm>
            <a:off x="7639050" y="570547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이후 슬라이드에서 경영 난이도와 필지 선택 화면을 이어 보여주며, 실제 판단 구조를 설명하도록 흐름을 잡았습니다.</a:t>
            </a:r>
          </a:p>
        </p:txBody>
      </p:sp>
    </p:spTree>
    <p:extLst>
      <p:ext uri="{BB962C8B-B14F-4D97-AF65-F5344CB8AC3E}">
        <ns3:creationId val="576258590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ns2:creationId id="{6A6BC9F5-BCBB-47A1-9421-9121504D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C6C21816-A8BC-4131-B1F8-6C162AD70AF3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920865"/>
          </a:xfrm>
          <a:prstGeom prst="roundRect">
            <a:avLst>
              <a:gd name="adj" fmla="val 3028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03E55978-833A-499C-AACC-A585823502D6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도입 2 / 경영 난이도 선택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2CD240F1-420C-4157-A352-8C74714CE26E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640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농업은 시작부터</a:t>
            </a:r>
          </a:p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경영 판단입니다.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2B6FB80D-1AE0-4053-94A2-365B33204A1E}"/>
              </a:ext>
            </a:extLst>
          </p:cNvPr>
          <p:cNvSpPr>
            <a:spLocks noGrp="1"/>
          </p:cNvSpPr>
          <p:nvPr/>
        </p:nvSpPr>
        <p:spPr>
          <a:xfrm>
            <a:off x="628650" y="174879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플레이어는 시작 단계에서 경영 난이도, 초기자금, 운영대출,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신용 수준을 함께 고려하며 출발 조건을 선택합니다.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47076825-0225-41FB-A958-432D54FD66E6}"/>
              </a:ext>
            </a:extLst>
          </p:cNvPr>
          <p:cNvSpPr>
            <a:spLocks noGrp="1"/>
          </p:cNvSpPr>
          <p:nvPr/>
        </p:nvSpPr>
        <p:spPr>
          <a:xfrm>
            <a:off x="628650" y="226314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536063CB-44FB-4AA7-9F29-B3142E6AFAF3}"/>
              </a:ext>
            </a:extLst>
          </p:cNvPr>
          <p:cNvSpPr>
            <a:spLocks noGrp="1"/>
          </p:cNvSpPr>
          <p:nvPr/>
        </p:nvSpPr>
        <p:spPr>
          <a:xfrm>
            <a:off x="628650" y="2463165"/>
            <a:ext cx="3714750" cy="3333750"/>
          </a:xfrm>
          <a:prstGeom prst="roundRect">
            <a:avLst>
              <a:gd name="adj" fmla="val 6857"/>
            </a:avLst>
          </a:prstGeom>
          <a:solidFill>
            <a:srgbClr val="EFE4D1"/>
          </a:solidFill>
        </p:spPr>
      </p:sp>
      <p:sp>
        <p:nvSpPr>
          <p:cNvPr id="8" name="직사각형 7">
            <a:extLst>
              <a:ext uri="{FF2B5EF4-FFF2-40B4-BE49-F238E27FC236}">
                <ns2:creationId id="{FC53A706-4F2E-4065-B06D-67AAB46AB75B}"/>
              </a:ext>
            </a:extLst>
          </p:cNvPr>
          <p:cNvSpPr>
            <a:spLocks noGrp="1"/>
          </p:cNvSpPr>
          <p:nvPr/>
        </p:nvSpPr>
        <p:spPr>
          <a:xfrm>
            <a:off x="895350" y="2729865"/>
            <a:ext cx="318135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화면이 보여주는 것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6D974463-F648-4742-974F-38A6E3444C88}"/>
              </a:ext>
            </a:extLst>
          </p:cNvPr>
          <p:cNvSpPr>
            <a:spLocks noGrp="1"/>
          </p:cNvSpPr>
          <p:nvPr/>
        </p:nvSpPr>
        <p:spPr>
          <a:xfrm>
            <a:off x="895350" y="3118485"/>
            <a:ext cx="3181350" cy="109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게임은 재배보다 먼저 ‘어떤 조건으로 출발할 것인가’를 묻습니다.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난이도에 따라 시작 자금, 운영대출, 신용 수준이 함께 달라지며,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플레이어는 처음부터 경영 감각을 요구받습니다.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95DC215A-4CB6-4BC1-8B83-FB80AB86FA95}"/>
              </a:ext>
            </a:extLst>
          </p:cNvPr>
          <p:cNvSpPr>
            <a:spLocks noGrp="1"/>
          </p:cNvSpPr>
          <p:nvPr/>
        </p:nvSpPr>
        <p:spPr>
          <a:xfrm>
            <a:off x="4514850" y="2463165"/>
            <a:ext cx="6191250" cy="1009650"/>
          </a:xfrm>
          <a:prstGeom prst="roundRect">
            <a:avLst>
              <a:gd name="adj" fmla="val 1698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BC0CFD90-6D1D-4025-9955-E755FC53A7EE}"/>
              </a:ext>
            </a:extLst>
          </p:cNvPr>
          <p:cNvSpPr>
            <a:spLocks noGrp="1"/>
          </p:cNvSpPr>
          <p:nvPr/>
        </p:nvSpPr>
        <p:spPr>
          <a:xfrm>
            <a:off x="4705350" y="2653665"/>
            <a:ext cx="581025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01 초기자금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4571B14B-CD3F-48A9-8FD7-D294989BDC49}"/>
              </a:ext>
            </a:extLst>
          </p:cNvPr>
          <p:cNvSpPr>
            <a:spLocks noGrp="1"/>
          </p:cNvSpPr>
          <p:nvPr/>
        </p:nvSpPr>
        <p:spPr>
          <a:xfrm>
            <a:off x="4705350" y="2962275"/>
            <a:ext cx="581025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출발 자금이 다르면 초반 운영 리듬과 선택 가능한 범위가 크게 달라집니다.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0E191E8A-9F0E-4318-84ED-8CF322CFE7BA}"/>
              </a:ext>
            </a:extLst>
          </p:cNvPr>
          <p:cNvSpPr>
            <a:spLocks noGrp="1"/>
          </p:cNvSpPr>
          <p:nvPr/>
        </p:nvSpPr>
        <p:spPr>
          <a:xfrm>
            <a:off x="4514850" y="3625215"/>
            <a:ext cx="6191250" cy="1009650"/>
          </a:xfrm>
          <a:prstGeom prst="roundRect">
            <a:avLst>
              <a:gd name="adj" fmla="val 1698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53A7E572-CF41-457F-A708-731EF353F72D}"/>
              </a:ext>
            </a:extLst>
          </p:cNvPr>
          <p:cNvSpPr>
            <a:spLocks noGrp="1"/>
          </p:cNvSpPr>
          <p:nvPr/>
        </p:nvSpPr>
        <p:spPr>
          <a:xfrm>
            <a:off x="4705350" y="3815715"/>
            <a:ext cx="581025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02 운영대출 · 신용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89931A1F-416A-4F59-A135-99115B78A89A}"/>
              </a:ext>
            </a:extLst>
          </p:cNvPr>
          <p:cNvSpPr>
            <a:spLocks noGrp="1"/>
          </p:cNvSpPr>
          <p:nvPr/>
        </p:nvSpPr>
        <p:spPr>
          <a:xfrm>
            <a:off x="4705350" y="4124325"/>
            <a:ext cx="581025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자금 부족을 빚으로 보완할지, 안정적으로 출발할지에 따라 농장 운영 태도가 달라집니다.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F6BE3673-11F1-43BC-9F7C-A25C936919F1}"/>
              </a:ext>
            </a:extLst>
          </p:cNvPr>
          <p:cNvSpPr>
            <a:spLocks noGrp="1"/>
          </p:cNvSpPr>
          <p:nvPr/>
        </p:nvSpPr>
        <p:spPr>
          <a:xfrm>
            <a:off x="4514850" y="4787265"/>
            <a:ext cx="6191250" cy="1162050"/>
          </a:xfrm>
          <a:prstGeom prst="roundRect">
            <a:avLst>
              <a:gd name="adj" fmla="val 14754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ns2:creationId id="{E7AE777A-97A9-4DEF-9085-BA42992E9247}"/>
              </a:ext>
            </a:extLst>
          </p:cNvPr>
          <p:cNvSpPr>
            <a:spLocks noGrp="1"/>
          </p:cNvSpPr>
          <p:nvPr/>
        </p:nvSpPr>
        <p:spPr>
          <a:xfrm>
            <a:off x="4705350" y="4977765"/>
            <a:ext cx="581025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03 시작 조건의 차별화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BCDBD0FD-F250-45D5-820C-92CEF4D9C54C}"/>
              </a:ext>
            </a:extLst>
          </p:cNvPr>
          <p:cNvSpPr>
            <a:spLocks noGrp="1"/>
          </p:cNvSpPr>
          <p:nvPr/>
        </p:nvSpPr>
        <p:spPr>
          <a:xfrm>
            <a:off x="4705350" y="5286375"/>
            <a:ext cx="581025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구조는 농업이 단순한 시작 버튼이 아니라, 출발부터 자금과 위험을 설계해야 하는 일이라는 점을 체험하게 만듭니다.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978BAE4D-5D5B-4E34-B018-3C0201984055}"/>
              </a:ext>
            </a:extLst>
          </p:cNvPr>
          <p:cNvSpPr>
            <a:spLocks noGrp="1"/>
          </p:cNvSpPr>
          <p:nvPr/>
        </p:nvSpPr>
        <p:spPr>
          <a:xfrm>
            <a:off x="628650" y="612076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F7F1E8"/>
          </a:solidFill>
        </p:spPr>
      </p:sp>
      <p:sp>
        <p:nvSpPr>
          <p:cNvPr id="20" name="직사각형 19">
            <a:extLst>
              <a:ext uri="{FF2B5EF4-FFF2-40B4-BE49-F238E27FC236}">
                <ns2:creationId id="{ADA45547-4993-49FE-9343-FD7D1C1C2B71}"/>
              </a:ext>
            </a:extLst>
          </p:cNvPr>
          <p:cNvSpPr>
            <a:spLocks noGrp="1"/>
          </p:cNvSpPr>
          <p:nvPr/>
        </p:nvSpPr>
        <p:spPr>
          <a:xfrm>
            <a:off x="628650" y="612076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재배보다 먼저, 경영 판단을 요구합니다.</a:t>
            </a:r>
          </a:p>
        </p:txBody>
      </p:sp>
    </p:spTree>
    <p:extLst>
      <p:ext uri="{BB962C8B-B14F-4D97-AF65-F5344CB8AC3E}">
        <ns3:creationId val="120355168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ns2:creationId id="{F7F6D579-8BC9-4B9F-B174-5ED222F678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7C441A1A-5566-4986-8767-CBAE05D871F5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A671C7BF-D233-4889-AF60-1576D5E11057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도입 3 / 필지 선택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BAC1505D-C36C-439D-85D9-9A64338C655B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640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창농은 땅을 고르는</a:t>
            </a:r>
          </a:p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순간부터 시작됩니다.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2B34BDD4-AA0C-4994-9F70-01254E6396E2}"/>
              </a:ext>
            </a:extLst>
          </p:cNvPr>
          <p:cNvSpPr>
            <a:spLocks noGrp="1"/>
          </p:cNvSpPr>
          <p:nvPr/>
        </p:nvSpPr>
        <p:spPr>
          <a:xfrm>
            <a:off x="628650" y="174879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플레이어는 필지 가격만이 아니라 경사, 지하수, 잔여 현금,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접근성까지 함께 고려하며 첫 농장 입지를 선택합니다.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69F429F7-7414-4FC3-B958-56077E0A0650}"/>
              </a:ext>
            </a:extLst>
          </p:cNvPr>
          <p:cNvSpPr>
            <a:spLocks noGrp="1"/>
          </p:cNvSpPr>
          <p:nvPr/>
        </p:nvSpPr>
        <p:spPr>
          <a:xfrm>
            <a:off x="628650" y="226314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713936F4-5972-4263-94D2-FCC157F30FC1}"/>
              </a:ext>
            </a:extLst>
          </p:cNvPr>
          <p:cNvSpPr>
            <a:spLocks noGrp="1"/>
          </p:cNvSpPr>
          <p:nvPr/>
        </p:nvSpPr>
        <p:spPr>
          <a:xfrm>
            <a:off x="62865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ns2:creationId id="{EA3762B3-1CF5-43C4-B67B-D0048B38B33E}"/>
              </a:ext>
            </a:extLst>
          </p:cNvPr>
          <p:cNvSpPr>
            <a:spLocks noGrp="1"/>
          </p:cNvSpPr>
          <p:nvPr/>
        </p:nvSpPr>
        <p:spPr>
          <a:xfrm>
            <a:off x="81915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01 필지 가격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14A57653-786F-40B7-B4EE-62076CECC702}"/>
              </a:ext>
            </a:extLst>
          </p:cNvPr>
          <p:cNvSpPr>
            <a:spLocks noGrp="1"/>
          </p:cNvSpPr>
          <p:nvPr/>
        </p:nvSpPr>
        <p:spPr>
          <a:xfrm>
            <a:off x="819150" y="2962275"/>
            <a:ext cx="19812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첫 땅의 매입가가 이후 남는 현금과 운영 여력을 직접 바꿉니다.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21837DA7-FBF5-43F5-B6C7-2771D75F5085}"/>
              </a:ext>
            </a:extLst>
          </p:cNvPr>
          <p:cNvSpPr>
            <a:spLocks noGrp="1"/>
          </p:cNvSpPr>
          <p:nvPr/>
        </p:nvSpPr>
        <p:spPr>
          <a:xfrm>
            <a:off x="312420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F6D920B7-6BA4-4735-8D7A-E9F75B2724C0}"/>
              </a:ext>
            </a:extLst>
          </p:cNvPr>
          <p:cNvSpPr>
            <a:spLocks noGrp="1"/>
          </p:cNvSpPr>
          <p:nvPr/>
        </p:nvSpPr>
        <p:spPr>
          <a:xfrm>
            <a:off x="331470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02 경사와 지형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4B1FE154-7383-484C-B0F1-CD714AFC04E0}"/>
              </a:ext>
            </a:extLst>
          </p:cNvPr>
          <p:cNvSpPr>
            <a:spLocks noGrp="1"/>
          </p:cNvSpPr>
          <p:nvPr/>
        </p:nvSpPr>
        <p:spPr>
          <a:xfrm>
            <a:off x="3314700" y="296227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같은 면적이라도 경사도와 입지는 작업 편의와 운영 부담을 다르게 만듭니다.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C7116F33-F233-43AF-8FFB-C43B2C22FEC6}"/>
              </a:ext>
            </a:extLst>
          </p:cNvPr>
          <p:cNvSpPr>
            <a:spLocks noGrp="1"/>
          </p:cNvSpPr>
          <p:nvPr/>
        </p:nvSpPr>
        <p:spPr>
          <a:xfrm>
            <a:off x="561975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FE27CD43-93D1-4316-AEDF-3AA8DD9B000F}"/>
              </a:ext>
            </a:extLst>
          </p:cNvPr>
          <p:cNvSpPr>
            <a:spLocks noGrp="1"/>
          </p:cNvSpPr>
          <p:nvPr/>
        </p:nvSpPr>
        <p:spPr>
          <a:xfrm>
            <a:off x="581025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03 지하수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17852B06-30DF-4900-AF7E-7CDF63293115}"/>
              </a:ext>
            </a:extLst>
          </p:cNvPr>
          <p:cNvSpPr>
            <a:spLocks noGrp="1"/>
          </p:cNvSpPr>
          <p:nvPr/>
        </p:nvSpPr>
        <p:spPr>
          <a:xfrm>
            <a:off x="5810250" y="2962275"/>
            <a:ext cx="19812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지하수 기본량은 장기 재배 운영의 안정성과 연결되는 핵심 자원입니다.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4E085D28-EF6E-408B-A3C6-B6F6806FE961}"/>
              </a:ext>
            </a:extLst>
          </p:cNvPr>
          <p:cNvSpPr>
            <a:spLocks noGrp="1"/>
          </p:cNvSpPr>
          <p:nvPr/>
        </p:nvSpPr>
        <p:spPr>
          <a:xfrm>
            <a:off x="811530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ns2:creationId id="{245CE3A5-FF02-4D2F-AFB2-44DEADD80588}"/>
              </a:ext>
            </a:extLst>
          </p:cNvPr>
          <p:cNvSpPr>
            <a:spLocks noGrp="1"/>
          </p:cNvSpPr>
          <p:nvPr/>
        </p:nvSpPr>
        <p:spPr>
          <a:xfrm>
            <a:off x="830580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04 잔여 현금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BF783E9E-EE8F-4176-A9DA-C66A21D13FE3}"/>
              </a:ext>
            </a:extLst>
          </p:cNvPr>
          <p:cNvSpPr>
            <a:spLocks noGrp="1"/>
          </p:cNvSpPr>
          <p:nvPr/>
        </p:nvSpPr>
        <p:spPr>
          <a:xfrm>
            <a:off x="8305800" y="296227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땅을 사고 남은 현금이 적으면 곧바로 다음 선택의 폭도 좁아지게 됩니다.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95FE0B93-D22F-4067-9FEF-3F7C2F0FF8BB}"/>
              </a:ext>
            </a:extLst>
          </p:cNvPr>
          <p:cNvSpPr>
            <a:spLocks noGrp="1"/>
          </p:cNvSpPr>
          <p:nvPr/>
        </p:nvSpPr>
        <p:spPr>
          <a:xfrm>
            <a:off x="628650" y="427291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20" name="직사각형 19">
            <a:extLst>
              <a:ext uri="{FF2B5EF4-FFF2-40B4-BE49-F238E27FC236}">
                <ns2:creationId id="{F7677088-3E0C-47E5-B9DB-8BDA3F233FE5}"/>
              </a:ext>
            </a:extLst>
          </p:cNvPr>
          <p:cNvSpPr>
            <a:spLocks noGrp="1"/>
          </p:cNvSpPr>
          <p:nvPr/>
        </p:nvSpPr>
        <p:spPr>
          <a:xfrm>
            <a:off x="628650" y="427291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첫 필지 선택부터 현실적인 농장 의사결정을 요구합니다.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65D2AB7A-1F48-408A-937E-6BB430A47B1B}"/>
              </a:ext>
            </a:extLst>
          </p:cNvPr>
          <p:cNvSpPr>
            <a:spLocks noGrp="1"/>
          </p:cNvSpPr>
          <p:nvPr/>
        </p:nvSpPr>
        <p:spPr>
          <a:xfrm>
            <a:off x="628650" y="4996815"/>
            <a:ext cx="4953000" cy="876300"/>
          </a:xfrm>
          <a:prstGeom prst="roundRect">
            <a:avLst>
              <a:gd name="adj" fmla="val 19565"/>
            </a:avLst>
          </a:prstGeom>
          <a:solidFill>
            <a:srgbClr val="E7ECD9"/>
          </a:solidFill>
          <a:ln w="9525">
            <a:solidFill>
              <a:srgbClr val="C8D4AD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ns2:creationId id="{DA0D8846-3498-470E-BE6F-30FFCFF36C09}"/>
              </a:ext>
            </a:extLst>
          </p:cNvPr>
          <p:cNvSpPr>
            <a:spLocks noGrp="1"/>
          </p:cNvSpPr>
          <p:nvPr/>
        </p:nvSpPr>
        <p:spPr>
          <a:xfrm>
            <a:off x="819150" y="5187315"/>
            <a:ext cx="45720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현실성의 핵심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0267D1F8-E778-4E59-A0D0-C2071A25B4F3}"/>
              </a:ext>
            </a:extLst>
          </p:cNvPr>
          <p:cNvSpPr>
            <a:spLocks noGrp="1"/>
          </p:cNvSpPr>
          <p:nvPr/>
        </p:nvSpPr>
        <p:spPr>
          <a:xfrm>
            <a:off x="819150" y="5495925"/>
            <a:ext cx="457200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농장 시작은 단순 배치가 아니라 입지와 자원 배분의 판단이라는 점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558ACAEE-EE25-4043-A338-C56CDF560941}"/>
              </a:ext>
            </a:extLst>
          </p:cNvPr>
          <p:cNvSpPr>
            <a:spLocks noGrp="1"/>
          </p:cNvSpPr>
          <p:nvPr/>
        </p:nvSpPr>
        <p:spPr>
          <a:xfrm>
            <a:off x="5753100" y="4996815"/>
            <a:ext cx="4953000" cy="876300"/>
          </a:xfrm>
          <a:prstGeom prst="roundRect">
            <a:avLst>
              <a:gd name="adj" fmla="val 19565"/>
            </a:avLst>
          </a:prstGeom>
          <a:solidFill>
            <a:srgbClr val="F3EADC"/>
          </a:solidFill>
          <a:ln w="9525">
            <a:solidFill>
              <a:srgbClr val="E0CFB0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ns2:creationId id="{D57B7FF9-3791-4EBE-BCF7-CF0958E67334}"/>
              </a:ext>
            </a:extLst>
          </p:cNvPr>
          <p:cNvSpPr>
            <a:spLocks noGrp="1"/>
          </p:cNvSpPr>
          <p:nvPr/>
        </p:nvSpPr>
        <p:spPr>
          <a:xfrm>
            <a:off x="5943600" y="5187315"/>
            <a:ext cx="45720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창농마인드 연결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12AEB2F4-D03D-45C5-9143-710D4BEBA141}"/>
              </a:ext>
            </a:extLst>
          </p:cNvPr>
          <p:cNvSpPr>
            <a:spLocks noGrp="1"/>
          </p:cNvSpPr>
          <p:nvPr/>
        </p:nvSpPr>
        <p:spPr>
          <a:xfrm>
            <a:off x="5943600" y="5495925"/>
            <a:ext cx="457200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청년농이 농업을 ‘선택과 책임의 일’로 받아들이게 만드는 구조</a:t>
            </a:r>
          </a:p>
        </p:txBody>
      </p:sp>
    </p:spTree>
    <p:extLst>
      <p:ext uri="{BB962C8B-B14F-4D97-AF65-F5344CB8AC3E}">
        <ns3:creationId val="170174175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ns2:creationId id="{5AE80589-448C-45BB-B0EB-5740FEAD83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8A50D17A-30CC-4167-A6D4-B75606A7D046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3C92F20A-BBDA-4600-8FDD-F3085F138E7B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 구성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AD1E3CE-FF5F-488C-ABEC-BF5BA67F81C1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현실형 과수 농장 시뮬레이션의 핵심 구조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535F1CB4-E3D2-4FFB-BC53-9185CD61BB21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플레이어는 단순한 수확 반복이 아니라,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농장 운영 전반을 연결된 시스템으로 경험하게 됩니다.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C5FAA272-74F8-4E95-9A06-A76AA614406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252B33C9-D2F2-4BE0-B0AF-EA2C4570FDA1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ns2:creationId id="{6B51FE73-13F1-4864-8821-B6600ADC1EC6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재배 관리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D208844A-778F-4CD4-9867-098B326FB6C4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묘목 식재, 생육 단계, 적과, 방제, 수확 시기 같은 재배 흐름을 직접 다룹니다.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521084BA-475C-47A8-9379-9D7017A1D585}"/>
              </a:ext>
            </a:extLst>
          </p:cNvPr>
          <p:cNvSpPr>
            <a:spLocks noGrp="1"/>
          </p:cNvSpPr>
          <p:nvPr/>
        </p:nvSpPr>
        <p:spPr>
          <a:xfrm>
            <a:off x="3124200" y="214312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E9F74841-3E11-47D9-814B-B42DC7E8CC39}"/>
              </a:ext>
            </a:extLst>
          </p:cNvPr>
          <p:cNvSpPr>
            <a:spLocks noGrp="1"/>
          </p:cNvSpPr>
          <p:nvPr/>
        </p:nvSpPr>
        <p:spPr>
          <a:xfrm>
            <a:off x="3314700" y="233362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노동 · 장비 운용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0BD50C6A-2B76-4D6A-A5A1-B0EA4C066CE1}"/>
              </a:ext>
            </a:extLst>
          </p:cNvPr>
          <p:cNvSpPr>
            <a:spLocks noGrp="1"/>
          </p:cNvSpPr>
          <p:nvPr/>
        </p:nvSpPr>
        <p:spPr>
          <a:xfrm>
            <a:off x="3314700" y="264223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작업 인력과 장비 사용이 효율에 영향을 주도록 설계해 현장 운영의 부담을 반영합니다.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045B5385-C631-40E0-8481-CCA4ABC47BE0}"/>
              </a:ext>
            </a:extLst>
          </p:cNvPr>
          <p:cNvSpPr>
            <a:spLocks noGrp="1"/>
          </p:cNvSpPr>
          <p:nvPr/>
        </p:nvSpPr>
        <p:spPr>
          <a:xfrm>
            <a:off x="628650" y="368617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F2A7FDC4-92BA-4DF5-AFDE-AAF565C087E4}"/>
              </a:ext>
            </a:extLst>
          </p:cNvPr>
          <p:cNvSpPr>
            <a:spLocks noGrp="1"/>
          </p:cNvSpPr>
          <p:nvPr/>
        </p:nvSpPr>
        <p:spPr>
          <a:xfrm>
            <a:off x="819150" y="387667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계절 · 날씨 변수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EAB57EC4-D80A-47F3-A97E-AC05C4AEE2A8}"/>
              </a:ext>
            </a:extLst>
          </p:cNvPr>
          <p:cNvSpPr>
            <a:spLocks noGrp="1"/>
          </p:cNvSpPr>
          <p:nvPr/>
        </p:nvSpPr>
        <p:spPr>
          <a:xfrm>
            <a:off x="819150" y="418528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농업은 같은 작업도 시기와 환경에 따라 결과가 달라진다는 점을 체감하게 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850E45A1-6C3E-451F-A1AB-29E3D1CB14F4}"/>
              </a:ext>
            </a:extLst>
          </p:cNvPr>
          <p:cNvSpPr>
            <a:spLocks noGrp="1"/>
          </p:cNvSpPr>
          <p:nvPr/>
        </p:nvSpPr>
        <p:spPr>
          <a:xfrm>
            <a:off x="3124200" y="368617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ns2:creationId id="{003D800C-5B33-4E75-8001-E6239767A81D}"/>
              </a:ext>
            </a:extLst>
          </p:cNvPr>
          <p:cNvSpPr>
            <a:spLocks noGrp="1"/>
          </p:cNvSpPr>
          <p:nvPr/>
        </p:nvSpPr>
        <p:spPr>
          <a:xfrm>
            <a:off x="3314700" y="387667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비용 · 수익 흐름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C7B8785C-0F05-4CFE-A921-8E477E924616}"/>
              </a:ext>
            </a:extLst>
          </p:cNvPr>
          <p:cNvSpPr>
            <a:spLocks noGrp="1"/>
          </p:cNvSpPr>
          <p:nvPr/>
        </p:nvSpPr>
        <p:spPr>
          <a:xfrm>
            <a:off x="3314700" y="418528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소모품 구매, 작업비, 수확 수익이 연결되어 있어 경영 감각까지 함께 요구합니다.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69CC8A15-F1B5-49B7-95D4-ED16E1FC57DF}"/>
              </a:ext>
            </a:extLst>
          </p:cNvPr>
          <p:cNvSpPr>
            <a:spLocks noGrp="1"/>
          </p:cNvSpPr>
          <p:nvPr/>
        </p:nvSpPr>
        <p:spPr>
          <a:xfrm>
            <a:off x="5657850" y="2143125"/>
            <a:ext cx="5143500" cy="2952750"/>
          </a:xfrm>
          <a:prstGeom prst="roundRect">
            <a:avLst>
              <a:gd name="adj" fmla="val 7742"/>
            </a:avLst>
          </a:prstGeom>
          <a:solidFill>
            <a:srgbClr val="EFE4D1"/>
          </a:solidFill>
        </p:spPr>
      </p:sp>
      <p:sp>
        <p:nvSpPr>
          <p:cNvPr id="20" name="직사각형 19">
            <a:extLst>
              <a:ext uri="{FF2B5EF4-FFF2-40B4-BE49-F238E27FC236}">
                <ns2:creationId id="{851022AC-A86E-4DB7-906A-17765B9F12E0}"/>
              </a:ext>
            </a:extLst>
          </p:cNvPr>
          <p:cNvSpPr>
            <a:spLocks noGrp="1"/>
          </p:cNvSpPr>
          <p:nvPr/>
        </p:nvSpPr>
        <p:spPr>
          <a:xfrm>
            <a:off x="5924550" y="2409825"/>
            <a:ext cx="461010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플레이어가 직접 하게 되는 판단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EDC92C30-64F0-4345-B97A-0CC932AA29B9}"/>
              </a:ext>
            </a:extLst>
          </p:cNvPr>
          <p:cNvSpPr>
            <a:spLocks noGrp="1"/>
          </p:cNvSpPr>
          <p:nvPr/>
        </p:nvSpPr>
        <p:spPr>
          <a:xfrm>
            <a:off x="5924550" y="2798445"/>
            <a:ext cx="461010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어떤 품종과 묘목을 선택할 것인가</a:t>
            </a:r>
          </a:p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지금 작업을 진행할지 기다릴 것인가</a:t>
            </a:r>
          </a:p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노동력과 장비를 어디에 우선 배치할 것인가</a:t>
            </a:r>
          </a:p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비용을 감수하고 품질을 높일지 보수적으로 갈 것인가</a:t>
            </a:r>
          </a:p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계절 변화에 맞춰 다음 단계 운영을 어떻게 조정할 것인가</a:t>
            </a:r>
          </a:p>
        </p:txBody>
      </p:sp>
    </p:spTree>
    <p:extLst>
      <p:ext uri="{BB962C8B-B14F-4D97-AF65-F5344CB8AC3E}">
        <ns3:creationId val="793513925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ns2:creationId id="{5F6988DA-0B40-48E5-B77B-8530154290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1D7CAFD1-D7BE-4FB7-A3AF-96C51F30F6A0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091D6E9B-E5A9-4183-99E6-9A0CA3E17D62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현실성 설계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660661E4-5F28-4872-8A22-A43FB22368CA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 안에 반영한 현실형 농업 요소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0675111A-2186-42AB-8EDD-B4A702E29B03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프로젝트는 농업을 단순화하는 대신,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과수 운영에서 실제로 중요한 판단 요소들을 시스템 안에 녹여냈습니다.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9BB5A45B-EC86-4B27-ABC2-3EEF6F4CC68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88332F4C-F1FF-4221-A29F-E178413AC167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ns2:creationId id="{E9E9E12E-7143-447C-838C-14404C86D9A5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작업 시기 판단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8C0C9417-84D1-4CC8-A9BD-66A3C81A7704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같은 작업도 언제 하느냐에 따라 의미가 달라진다는 과수 운영 특성을 반영했습니다.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EFCCFCB7-5CB2-457E-BD75-604FF40A52F0}"/>
              </a:ext>
            </a:extLst>
          </p:cNvPr>
          <p:cNvSpPr>
            <a:spLocks noGrp="1"/>
          </p:cNvSpPr>
          <p:nvPr/>
        </p:nvSpPr>
        <p:spPr>
          <a:xfrm>
            <a:off x="4000500" y="21431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25A24F38-B8A2-4B4A-8439-0913A5B5570F}"/>
              </a:ext>
            </a:extLst>
          </p:cNvPr>
          <p:cNvSpPr>
            <a:spLocks noGrp="1"/>
          </p:cNvSpPr>
          <p:nvPr/>
        </p:nvSpPr>
        <p:spPr>
          <a:xfrm>
            <a:off x="419100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생육과 재배 흐름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9345C5F-9A02-458F-8776-3839C6D16AB4}"/>
              </a:ext>
            </a:extLst>
          </p:cNvPr>
          <p:cNvSpPr>
            <a:spLocks noGrp="1"/>
          </p:cNvSpPr>
          <p:nvPr/>
        </p:nvSpPr>
        <p:spPr>
          <a:xfrm>
            <a:off x="4191000" y="26422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묘목 단계부터 관리와 수확까지 이어지는 장기 흐름을 단절 없이 경험하게 합니다.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87AB40AE-44B6-4364-9DA3-98C8BB4CC9A1}"/>
              </a:ext>
            </a:extLst>
          </p:cNvPr>
          <p:cNvSpPr>
            <a:spLocks noGrp="1"/>
          </p:cNvSpPr>
          <p:nvPr/>
        </p:nvSpPr>
        <p:spPr>
          <a:xfrm>
            <a:off x="7372350" y="21431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7552A105-28A5-476E-9195-1F964CC98C2D}"/>
              </a:ext>
            </a:extLst>
          </p:cNvPr>
          <p:cNvSpPr>
            <a:spLocks noGrp="1"/>
          </p:cNvSpPr>
          <p:nvPr/>
        </p:nvSpPr>
        <p:spPr>
          <a:xfrm>
            <a:off x="75628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노동력의 한계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7CFF35BC-EDCA-49D7-8A38-30471F19EA91}"/>
              </a:ext>
            </a:extLst>
          </p:cNvPr>
          <p:cNvSpPr>
            <a:spLocks noGrp="1"/>
          </p:cNvSpPr>
          <p:nvPr/>
        </p:nvSpPr>
        <p:spPr>
          <a:xfrm>
            <a:off x="7562850" y="26422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사람과 시간은 항상 부족할 수 있다는 현실을 넣어 우선순위 판단을 요구합니다.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4A4B9BF2-974E-4F45-A28C-0E1EF8448779}"/>
              </a:ext>
            </a:extLst>
          </p:cNvPr>
          <p:cNvSpPr>
            <a:spLocks noGrp="1"/>
          </p:cNvSpPr>
          <p:nvPr/>
        </p:nvSpPr>
        <p:spPr>
          <a:xfrm>
            <a:off x="628650" y="36290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ns2:creationId id="{12E36934-3AD4-4FB6-BF9E-3F7D6C0FCF33}"/>
              </a:ext>
            </a:extLst>
          </p:cNvPr>
          <p:cNvSpPr>
            <a:spLocks noGrp="1"/>
          </p:cNvSpPr>
          <p:nvPr/>
        </p:nvSpPr>
        <p:spPr>
          <a:xfrm>
            <a:off x="819150" y="38195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장비와 소모품 운용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BE439A0D-B053-48B6-BC99-74FB5E147BF9}"/>
              </a:ext>
            </a:extLst>
          </p:cNvPr>
          <p:cNvSpPr>
            <a:spLocks noGrp="1"/>
          </p:cNvSpPr>
          <p:nvPr/>
        </p:nvSpPr>
        <p:spPr>
          <a:xfrm>
            <a:off x="819150" y="41281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재배는 손기술만으로 끝나지 않고 장비·소모품 선택이 결과에 연결되도록 설계했습니다.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AFDF4E15-7AEB-475F-AAC0-D785D7D3DF44}"/>
              </a:ext>
            </a:extLst>
          </p:cNvPr>
          <p:cNvSpPr>
            <a:spLocks noGrp="1"/>
          </p:cNvSpPr>
          <p:nvPr/>
        </p:nvSpPr>
        <p:spPr>
          <a:xfrm>
            <a:off x="4000500" y="36290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ns2:creationId id="{E2DF4F69-8912-4030-B9B5-5C9073ABED77}"/>
              </a:ext>
            </a:extLst>
          </p:cNvPr>
          <p:cNvSpPr>
            <a:spLocks noGrp="1"/>
          </p:cNvSpPr>
          <p:nvPr/>
        </p:nvSpPr>
        <p:spPr>
          <a:xfrm>
            <a:off x="4191000" y="38195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계절 · 날씨 변화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D87AF1DA-2013-4CF4-A573-3CC0C5DCF5CF}"/>
              </a:ext>
            </a:extLst>
          </p:cNvPr>
          <p:cNvSpPr>
            <a:spLocks noGrp="1"/>
          </p:cNvSpPr>
          <p:nvPr/>
        </p:nvSpPr>
        <p:spPr>
          <a:xfrm>
            <a:off x="4191000" y="41281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농사는 달력과 날씨를 무시하고 진행할 수 없다는 점을 플레이 흐름에 반영했습니다.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A0DE6E76-69A1-4FCB-A496-DA280FD19406}"/>
              </a:ext>
            </a:extLst>
          </p:cNvPr>
          <p:cNvSpPr>
            <a:spLocks noGrp="1"/>
          </p:cNvSpPr>
          <p:nvPr/>
        </p:nvSpPr>
        <p:spPr>
          <a:xfrm>
            <a:off x="7372350" y="36290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ns2:creationId id="{6778FCF1-A2A5-479A-9B94-7A58256731D8}"/>
              </a:ext>
            </a:extLst>
          </p:cNvPr>
          <p:cNvSpPr>
            <a:spLocks noGrp="1"/>
          </p:cNvSpPr>
          <p:nvPr/>
        </p:nvSpPr>
        <p:spPr>
          <a:xfrm>
            <a:off x="7562850" y="38195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비용과 수익 계산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1AFFEBF3-2001-4435-A136-F1355CB258BE}"/>
              </a:ext>
            </a:extLst>
          </p:cNvPr>
          <p:cNvSpPr>
            <a:spLocks noGrp="1"/>
          </p:cNvSpPr>
          <p:nvPr/>
        </p:nvSpPr>
        <p:spPr>
          <a:xfrm>
            <a:off x="7562850" y="41281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좋은 재배 판단도 자금 흐름과 연결되지 않으면 지속되기 어렵다는 경영 현실을 담았습니다.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4144DFBE-6D2A-46E7-BB57-CCEE3F4B0F54}"/>
              </a:ext>
            </a:extLst>
          </p:cNvPr>
          <p:cNvSpPr>
            <a:spLocks noGrp="1"/>
          </p:cNvSpPr>
          <p:nvPr/>
        </p:nvSpPr>
        <p:spPr>
          <a:xfrm>
            <a:off x="628650" y="511492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26" name="직사각형 25">
            <a:extLst>
              <a:ext uri="{FF2B5EF4-FFF2-40B4-BE49-F238E27FC236}">
                <ns2:creationId id="{F7B3BBCE-95FC-4E72-9A2D-2B56E24108BF}"/>
              </a:ext>
            </a:extLst>
          </p:cNvPr>
          <p:cNvSpPr>
            <a:spLocks noGrp="1"/>
          </p:cNvSpPr>
          <p:nvPr/>
        </p:nvSpPr>
        <p:spPr>
          <a:xfrm>
            <a:off x="628650" y="511492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결국 이 게임의 현실성은 ‘보이는 농업’이 아니라 ‘판단해야 하는 농업’을 만든 데 있습니다.</a:t>
            </a:r>
          </a:p>
        </p:txBody>
      </p:sp>
    </p:spTree>
    <p:extLst>
      <p:ext uri="{BB962C8B-B14F-4D97-AF65-F5344CB8AC3E}">
        <ns3:creationId val="114240173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ns2:creationId id="{BB7074AB-D2AC-45B5-A73F-1BD7C4E769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97885333-CEB7-421C-8DAB-C6AA55976B9D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AE723315-9955-4B87-87D2-C4895C79C94B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학습 효과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917BBCE5-E586-4FB5-978C-4C4786FCA91B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플레이어가 실제로 얻게 되는 이해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2D90F905-A0B3-4502-867D-2A42621C4BB1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단순한 정보 전달보다,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청년농에게 필요한 사고방식이 어떻게 바뀌는지를 만드는 데 초점을 둡니다.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86B361D2-F699-445B-9049-6F023851E053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00E1E572-609E-4143-B7CF-6440C3B88C5A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4857750" cy="2857500"/>
          </a:xfrm>
          <a:prstGeom prst="roundRect">
            <a:avLst>
              <a:gd name="adj" fmla="val 8000"/>
            </a:avLst>
          </a:prstGeom>
          <a:solidFill>
            <a:srgbClr val="F3EADC"/>
          </a:solidFill>
        </p:spPr>
      </p:sp>
      <p:sp>
        <p:nvSpPr>
          <p:cNvPr id="8" name="직사각형 7">
            <a:extLst>
              <a:ext uri="{FF2B5EF4-FFF2-40B4-BE49-F238E27FC236}">
                <ns2:creationId id="{32CA6803-65B2-45F6-9351-78DCC850B174}"/>
              </a:ext>
            </a:extLst>
          </p:cNvPr>
          <p:cNvSpPr>
            <a:spLocks noGrp="1"/>
          </p:cNvSpPr>
          <p:nvPr/>
        </p:nvSpPr>
        <p:spPr>
          <a:xfrm>
            <a:off x="895350" y="2409825"/>
            <a:ext cx="432435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 전 기대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BE6B906B-39C2-41DF-8DF3-A380990F9AFF}"/>
              </a:ext>
            </a:extLst>
          </p:cNvPr>
          <p:cNvSpPr>
            <a:spLocks noGrp="1"/>
          </p:cNvSpPr>
          <p:nvPr/>
        </p:nvSpPr>
        <p:spPr>
          <a:xfrm>
            <a:off x="895350" y="2798445"/>
            <a:ext cx="4324350" cy="7315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농업은 열심히 하면 되는 일일 것이다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재배기술만 익히면 운영이 가능할 것이다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수확이 곧바로 수익으로 이어질 것이다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장비와 노동은 부수적인 요소일 것이다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1F0B807-2107-4255-9E52-2C5F6E6F90A5}"/>
              </a:ext>
            </a:extLst>
          </p:cNvPr>
          <p:cNvSpPr>
            <a:spLocks noGrp="1"/>
          </p:cNvSpPr>
          <p:nvPr/>
        </p:nvSpPr>
        <p:spPr>
          <a:xfrm>
            <a:off x="5657850" y="2143125"/>
            <a:ext cx="4857750" cy="2857500"/>
          </a:xfrm>
          <a:prstGeom prst="roundRect">
            <a:avLst>
              <a:gd name="adj" fmla="val 8000"/>
            </a:avLst>
          </a:prstGeom>
          <a:solidFill>
            <a:srgbClr val="E7ECD9"/>
          </a:solidFill>
        </p:spPr>
      </p:sp>
      <p:sp>
        <p:nvSpPr>
          <p:cNvPr id="11" name="직사각형 10">
            <a:extLst>
              <a:ext uri="{FF2B5EF4-FFF2-40B4-BE49-F238E27FC236}">
                <ns2:creationId id="{13C9551E-B715-4301-BA1B-E5A632A83703}"/>
              </a:ext>
            </a:extLst>
          </p:cNvPr>
          <p:cNvSpPr>
            <a:spLocks noGrp="1"/>
          </p:cNvSpPr>
          <p:nvPr/>
        </p:nvSpPr>
        <p:spPr>
          <a:xfrm>
            <a:off x="5924550" y="2409825"/>
            <a:ext cx="432435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 후 이해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D91156AC-0F02-43CE-B1C9-9B1C804E74E2}"/>
              </a:ext>
            </a:extLst>
          </p:cNvPr>
          <p:cNvSpPr>
            <a:spLocks noGrp="1"/>
          </p:cNvSpPr>
          <p:nvPr/>
        </p:nvSpPr>
        <p:spPr>
          <a:xfrm>
            <a:off x="5924550" y="2798445"/>
            <a:ext cx="4324350" cy="7315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농업은 연속된 판단과 조정의 일이다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기술, 자금, 노동, 시기가 함께 움직여야 한다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수익 이전에 버티는 운영 감각이 필요하다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청년농에게는 책임감과 계획성이 핵심 자산이다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60FBCE2D-08D1-4523-A7F8-049AE70124F8}"/>
              </a:ext>
            </a:extLst>
          </p:cNvPr>
          <p:cNvSpPr>
            <a:spLocks noGrp="1"/>
          </p:cNvSpPr>
          <p:nvPr/>
        </p:nvSpPr>
        <p:spPr>
          <a:xfrm>
            <a:off x="628650" y="517207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FFFAF2"/>
          </a:solidFill>
        </p:spPr>
      </p:sp>
      <p:sp>
        <p:nvSpPr>
          <p:cNvPr id="14" name="직사각형 13">
            <a:extLst>
              <a:ext uri="{FF2B5EF4-FFF2-40B4-BE49-F238E27FC236}">
                <ns2:creationId id="{E9B1CFC8-307E-4E4C-BAA1-7F69352FF323}"/>
              </a:ext>
            </a:extLst>
          </p:cNvPr>
          <p:cNvSpPr>
            <a:spLocks noGrp="1"/>
          </p:cNvSpPr>
          <p:nvPr/>
        </p:nvSpPr>
        <p:spPr>
          <a:xfrm>
            <a:off x="628650" y="517207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변화가 바로 ‘창농마인드’와 연결됩니다. 농업을 이상이 아닌 현실 속 실행 과제로 받아들이게 만들기 때문입니다.</a:t>
            </a:r>
          </a:p>
        </p:txBody>
      </p:sp>
    </p:spTree>
    <p:extLst>
      <p:ext uri="{BB962C8B-B14F-4D97-AF65-F5344CB8AC3E}">
        <ns3:creationId val="1392371826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ns2:creationId id="{01CC90CD-2623-4FD3-9A72-127A9FB94C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08039CB0-E76F-4B9D-80B6-C3774EA41382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B6CFE244-DC05-4F53-81F8-0CE023DD7973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기대효과 및 확장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DDF64D38-DB3E-40F2-A425-89D5E0A10A2F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프로젝트가 만들고 싶은 변화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EF7821E3-6F40-4BA3-A10C-E24BA76323D3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청년층이 농업을 더 가깝게 느끼도록 하는 것이 목표가 아닙니다.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농업을 더 진지하게 이해하도록 만드는 것이 목표입니다.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46A46B8D-2419-4AF9-AE93-A4D6D89759F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B350C310-F1ED-444B-939B-2DAA6E73B4DB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ns2:creationId id="{B23FAEC0-794D-49FA-995C-2160C736AE54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기대효과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CD6E8E82-E0C7-4648-95AC-9B8167F68FA0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2857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청년층이 농업을 단순한 환상이 아니라 준비와 책임이 필요한 진로로 이해하게 합니다.</a:t>
            </a:r>
          </a:p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특히 창농 전 단계에서 현실 감각을 높이는 체험형 콘텐츠로 활용할 수 있습니다.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5121C7EF-041C-402A-81B2-538E6C977B78}"/>
              </a:ext>
            </a:extLst>
          </p:cNvPr>
          <p:cNvSpPr>
            <a:spLocks noGrp="1"/>
          </p:cNvSpPr>
          <p:nvPr/>
        </p:nvSpPr>
        <p:spPr>
          <a:xfrm>
            <a:off x="403860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8AD7344B-3B8D-4762-A476-54B5426C8679}"/>
              </a:ext>
            </a:extLst>
          </p:cNvPr>
          <p:cNvSpPr>
            <a:spLocks noGrp="1"/>
          </p:cNvSpPr>
          <p:nvPr/>
        </p:nvSpPr>
        <p:spPr>
          <a:xfrm>
            <a:off x="422910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활용 방향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B3087398-7D5F-47B9-9342-A1080A1B3145}"/>
              </a:ext>
            </a:extLst>
          </p:cNvPr>
          <p:cNvSpPr>
            <a:spLocks noGrp="1"/>
          </p:cNvSpPr>
          <p:nvPr/>
        </p:nvSpPr>
        <p:spPr>
          <a:xfrm>
            <a:off x="4229100" y="2642235"/>
            <a:ext cx="2857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교육 자료, 홍보 콘텐츠, 체험 프로그램과 연결해 예비 청년농에게 간접 경험의 장을 제공할 수 있습니다.</a:t>
            </a:r>
          </a:p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웹기반이라는 점에서 접근성과 확장성도 높습니다.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B997D36-9849-4173-94E3-1B0B11C2752D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E7ECD9"/>
          </a:solidFill>
          <a:ln w="9525">
            <a:solidFill>
              <a:srgbClr val="C8D4AD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97093F70-07F9-4E48-9630-33EAA07406AD}"/>
              </a:ext>
            </a:extLst>
          </p:cNvPr>
          <p:cNvSpPr>
            <a:spLocks noGrp="1"/>
          </p:cNvSpPr>
          <p:nvPr/>
        </p:nvSpPr>
        <p:spPr>
          <a:xfrm>
            <a:off x="76390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향후 계획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C6F7BA7A-9C1F-4311-88AF-F03C36A1CFEE}"/>
              </a:ext>
            </a:extLst>
          </p:cNvPr>
          <p:cNvSpPr>
            <a:spLocks noGrp="1"/>
          </p:cNvSpPr>
          <p:nvPr/>
        </p:nvSpPr>
        <p:spPr>
          <a:xfrm>
            <a:off x="7639050" y="264223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과수 외 다른 작목으로 확장하고, 더 다양한 운영 상황과 선택지를 추가해 청년농 교육용 시뮬레이션으로 발전시키고자 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08523AA6-BBD6-4A97-AF3D-4BD7FE3A1B08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17" name="직사각형 16">
            <a:extLst>
              <a:ext uri="{FF2B5EF4-FFF2-40B4-BE49-F238E27FC236}">
                <ns2:creationId id="{06A75D2B-5159-45FA-B25A-7993555A7B73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농업을 쉽게 보이게 만드는 콘텐츠가 아니라, 청년농이 실제로 가져야 할 판단력과 책임감을 체험하게 만드는 콘텐츠입니다.</a:t>
            </a:r>
          </a:p>
        </p:txBody>
      </p:sp>
    </p:spTree>
    <p:extLst>
      <p:ext uri="{BB962C8B-B14F-4D97-AF65-F5344CB8AC3E}">
        <ns3:creationId val="2019418882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ns2:creationId id="{01CC90CD-2623-4FD3-9A72-127A9FB94C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08039CB0-E76F-4B9D-80B6-C3774EA41382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B6CFE244-DC05-4F53-81F8-0CE023DD7973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마무리</a:t>
            </a:r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DDF64D38-DB3E-40F2-A425-89D5E0A10A2F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감사합니다</a:t>
            </a:r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EF7821E3-6F40-4BA3-A10C-E24BA76323D3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실제 창농을 준비하며 느낀 고민을 게임으로 풀어낸 경험이,</a:t>
            </a:r>
            <a:endParaRPr/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청년농으로서의 제 방향과 노하우를 더 구체화하는 계기가 되었습니다.</a:t>
            </a:r>
            <a:endParaRPr/>
          </a:p>
        </p:txBody>
      </p:sp>
      <p:sp>
        <p:nvSpPr>
          <p:cNvPr id="6" name="직사각형 5">
            <a:extLst>
              <a:ext uri="{FF2B5EF4-FFF2-40B4-BE49-F238E27FC236}">
                <ns2:creationId id="{46A46B8D-2419-4AF9-AE93-A4D6D89759F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B350C310-F1ED-444B-939B-2DAA6E73B4DB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ns2:creationId id="{B23FAEC0-794D-49FA-995C-2160C736AE54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핵심 정리</a:t>
            </a:r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CD6E8E82-E0C7-4648-95AC-9B8167F68FA0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2857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이 게임은 단순 오락이 아니라 청년농이 실제로 겪게 될 자금, 토지, 운영 판단을 미리 체험하게 하는 현실형 콘텐츠입니다.</a:t>
            </a:r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5121C7EF-041C-402A-81B2-538E6C977B78}"/>
              </a:ext>
            </a:extLst>
          </p:cNvPr>
          <p:cNvSpPr>
            <a:spLocks noGrp="1"/>
          </p:cNvSpPr>
          <p:nvPr/>
        </p:nvSpPr>
        <p:spPr>
          <a:xfrm>
            <a:off x="403860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8AD7344B-3B8D-4762-A476-54B5426C8679}"/>
              </a:ext>
            </a:extLst>
          </p:cNvPr>
          <p:cNvSpPr>
            <a:spLocks noGrp="1"/>
          </p:cNvSpPr>
          <p:nvPr/>
        </p:nvSpPr>
        <p:spPr>
          <a:xfrm>
            <a:off x="422910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앞으로의 계획</a:t>
            </a:r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B3087398-7D5F-47B9-9342-A1080A1B3145}"/>
              </a:ext>
            </a:extLst>
          </p:cNvPr>
          <p:cNvSpPr>
            <a:spLocks noGrp="1"/>
          </p:cNvSpPr>
          <p:nvPr/>
        </p:nvSpPr>
        <p:spPr>
          <a:xfrm>
            <a:off x="4229100" y="2642235"/>
            <a:ext cx="2857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육성자금 배정 이후 토지 매입과 다축묘 과원 조성을 실제로 진행하며, 게임도 함께 현실성 있게 계속 보완해 나가겠습니다.</a:t>
            </a:r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1B997D36-9849-4173-94E3-1B0B11C2752D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E7ECD9"/>
          </a:solidFill>
          <a:ln w="9525">
            <a:solidFill>
              <a:srgbClr val="C8D4AD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97093F70-07F9-4E48-9630-33EAA07406AD}"/>
              </a:ext>
            </a:extLst>
          </p:cNvPr>
          <p:cNvSpPr>
            <a:spLocks noGrp="1"/>
          </p:cNvSpPr>
          <p:nvPr/>
        </p:nvSpPr>
        <p:spPr>
          <a:xfrm>
            <a:off x="76390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전하고 싶은 말</a:t>
            </a:r>
            <a:endParaRPr/>
          </a:p>
        </p:txBody>
      </p:sp>
      <p:sp>
        <p:nvSpPr>
          <p:cNvPr id="15" name="직사각형 14">
            <a:extLst>
              <a:ext uri="{FF2B5EF4-FFF2-40B4-BE49-F238E27FC236}">
                <ns2:creationId id="{C6F7BA7A-9C1F-4311-88AF-F03C36A1CFEE}"/>
              </a:ext>
            </a:extLst>
          </p:cNvPr>
          <p:cNvSpPr>
            <a:spLocks noGrp="1"/>
          </p:cNvSpPr>
          <p:nvPr/>
        </p:nvSpPr>
        <p:spPr>
          <a:xfrm>
            <a:off x="7639050" y="264223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농업은 쉽게 보이는 일이 아니라 끝까지 준비하고 책임져야 하는 일이라는 점을,</a:t>
            </a:r>
            <a:endParaRPr/>
          </a:p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게임과 실제 창농 준비를 함께 통해 보여드리고 싶었습니다.</a:t>
            </a:r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08523AA6-BBD6-4A97-AF3D-4BD7FE3A1B08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17" name="직사각형 16">
            <a:extLst>
              <a:ext uri="{FF2B5EF4-FFF2-40B4-BE49-F238E27FC236}">
                <ns2:creationId id="{06A75D2B-5159-45FA-B25A-7993555A7B73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rPr/>
              <a:t>경청해 주셔서 감사합니다.</a:t>
            </a:r>
            <a:endParaRPr/>
          </a:p>
        </p:txBody>
      </p:sp>
    </p:spTree>
    <p:extLst>
      <p:ext uri="{BB962C8B-B14F-4D97-AF65-F5344CB8AC3E}">
        <ns3:creationId val="2019418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DocSecurity>0</DocSecurity>
  <PresentationFormat>와이드스크린</PresentationFormat>
  <Paragraphs>116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JUNPYO LEE</cp:lastModifiedBy>
  <cp:revision>1</cp:revision>
  <dcterms:created xsi:type="dcterms:W3CDTF">2026-05-22T15:32:12Z</dcterms:created>
  <dcterms:modified xsi:type="dcterms:W3CDTF">2026-05-22T15:55:59Z</dcterms:modified>
</cp:coreProperties>
</file>