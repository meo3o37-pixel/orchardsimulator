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90" d="100"/>
          <a:sy n="90" d="100"/>
        </p:scale>
        <p:origin x="10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0540A406-C9EC-4C5A-882A-A15DA0DA9E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3"/>
          </a:solidFill>
        </p:spPr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5F0B93-35B5-47B4-970B-CE5F6A76EA42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1811000" cy="7225665"/>
          </a:xfrm>
          <a:prstGeom prst="roundRect">
            <a:avLst>
              <a:gd name="adj" fmla="val 2900"/>
            </a:avLst>
          </a:prstGeom>
          <a:solidFill>
            <a:srgbClr val="FCF8F1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A544A25-04D1-4731-8ED9-738B91A51E88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40005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8D6E47"/>
                </a:solidFill>
              </a:defRPr>
            </a:pPr>
            <a:r>
              <a:t>2026 청년농 성공농업 노하우 콘테스트 / ④ 창농마인드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90ECAB-7648-4E20-97E9-5A8A3DD748AB}"/>
              </a:ext>
            </a:extLst>
          </p:cNvPr>
          <p:cNvSpPr>
            <a:spLocks noGrp="1"/>
          </p:cNvSpPr>
          <p:nvPr/>
        </p:nvSpPr>
        <p:spPr>
          <a:xfrm>
            <a:off x="628650" y="937260"/>
            <a:ext cx="7239000" cy="6400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2F261C"/>
                </a:solidFill>
              </a:defRPr>
            </a:pPr>
            <a:r>
              <a:t>게임으로 배우는</a:t>
            </a:r>
          </a:p>
          <a:p>
            <a:pPr>
              <a:defRPr sz="2100">
                <a:solidFill>
                  <a:srgbClr val="2F261C"/>
                </a:solidFill>
              </a:defRPr>
            </a:pPr>
            <a:r>
              <a:t>청년농의 현실 판단력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FAE2CD-519A-4A8D-9026-EEB565EE9E22}"/>
              </a:ext>
            </a:extLst>
          </p:cNvPr>
          <p:cNvSpPr>
            <a:spLocks noGrp="1"/>
          </p:cNvSpPr>
          <p:nvPr/>
        </p:nvSpPr>
        <p:spPr>
          <a:xfrm>
            <a:off x="628650" y="1748790"/>
            <a:ext cx="6667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25F49"/>
                </a:solidFill>
              </a:defRPr>
            </a:pPr>
            <a:r>
              <a:t>현실형 과수 농장 시뮬레이션 웹게임 ‘과수 타이쿤’을 통해</a:t>
            </a:r>
          </a:p>
          <a:p>
            <a:pPr>
              <a:defRPr sz="1125">
                <a:solidFill>
                  <a:srgbClr val="725F49"/>
                </a:solidFill>
              </a:defRPr>
            </a:pPr>
            <a:r>
              <a:t>청년농이 실제로 마주하는 선택과 운영의 무게를 체험형으로 전달합니다.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B582548-3160-4481-805D-08AC57F17028}"/>
              </a:ext>
            </a:extLst>
          </p:cNvPr>
          <p:cNvSpPr>
            <a:spLocks noGrp="1"/>
          </p:cNvSpPr>
          <p:nvPr/>
        </p:nvSpPr>
        <p:spPr>
          <a:xfrm>
            <a:off x="628650" y="2263140"/>
            <a:ext cx="1714500" cy="28575"/>
          </a:xfrm>
          <a:prstGeom prst="rect">
            <a:avLst/>
          </a:prstGeom>
          <a:solidFill>
            <a:srgbClr val="8D6E47"/>
          </a:solidFill>
          <a:ln w="0">
            <a:solidFill>
              <a:srgbClr val="8D6E47"/>
            </a:solidFill>
            <a:prstDash val="solid"/>
          </a:ln>
        </p:spPr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D765F3C-3F72-458D-A090-F816939DD398}"/>
              </a:ext>
            </a:extLst>
          </p:cNvPr>
          <p:cNvSpPr>
            <a:spLocks noGrp="1"/>
          </p:cNvSpPr>
          <p:nvPr/>
        </p:nvSpPr>
        <p:spPr>
          <a:xfrm>
            <a:off x="5562600" y="2463165"/>
            <a:ext cx="5524500" cy="2095500"/>
          </a:xfrm>
          <a:prstGeom prst="roundRect">
            <a:avLst>
              <a:gd name="adj" fmla="val 10909"/>
            </a:avLst>
          </a:prstGeom>
          <a:solidFill>
            <a:srgbClr val="F7F0E4"/>
          </a:solidFill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1291113-C804-4B04-BB4D-D8F6D9797624}"/>
              </a:ext>
            </a:extLst>
          </p:cNvPr>
          <p:cNvSpPr>
            <a:spLocks noGrp="1"/>
          </p:cNvSpPr>
          <p:nvPr/>
        </p:nvSpPr>
        <p:spPr>
          <a:xfrm>
            <a:off x="5829300" y="2729865"/>
            <a:ext cx="4991100" cy="2171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2F261C"/>
                </a:solidFill>
              </a:defRPr>
            </a:pPr>
            <a:r>
              <a:t>이번 발표의 핵심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A3ED28D-0DA6-45B2-A011-773453C11C3A}"/>
              </a:ext>
            </a:extLst>
          </p:cNvPr>
          <p:cNvSpPr>
            <a:spLocks noGrp="1"/>
          </p:cNvSpPr>
          <p:nvPr/>
        </p:nvSpPr>
        <p:spPr>
          <a:xfrm>
            <a:off x="5829300" y="3118485"/>
            <a:ext cx="49911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2F261C"/>
                </a:solidFill>
              </a:defRPr>
            </a:pPr>
            <a:r>
              <a:t>이 게임은 농업을 쉽게 보이게 만드는 콘텐츠가 아니라,</a:t>
            </a:r>
          </a:p>
          <a:p>
            <a:pPr>
              <a:defRPr sz="1500">
                <a:solidFill>
                  <a:srgbClr val="2F261C"/>
                </a:solidFill>
              </a:defRPr>
            </a:pPr>
            <a:r>
              <a:t>청년농이 가져야 할 판단력과 책임감을 체험하게 만드는 콘텐츠입니다.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79543C4-FA51-4849-9F86-65896706BA1E}"/>
              </a:ext>
            </a:extLst>
          </p:cNvPr>
          <p:cNvSpPr>
            <a:spLocks noGrp="1"/>
          </p:cNvSpPr>
          <p:nvPr/>
        </p:nvSpPr>
        <p:spPr>
          <a:xfrm>
            <a:off x="628650" y="4730115"/>
            <a:ext cx="1123950" cy="304800"/>
          </a:xfrm>
          <a:prstGeom prst="roundRect">
            <a:avLst>
              <a:gd name="adj" fmla="val 50000"/>
            </a:avLst>
          </a:prstGeom>
          <a:solidFill>
            <a:srgbClr val="E7ECD9"/>
          </a:solidFill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C345FFE-F4D2-412F-957A-35C8AF2ED805}"/>
              </a:ext>
            </a:extLst>
          </p:cNvPr>
          <p:cNvSpPr>
            <a:spLocks noGrp="1"/>
          </p:cNvSpPr>
          <p:nvPr/>
        </p:nvSpPr>
        <p:spPr>
          <a:xfrm>
            <a:off x="628650" y="4730115"/>
            <a:ext cx="112395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B7750"/>
                </a:solidFill>
              </a:defRPr>
            </a:pPr>
            <a:r>
              <a:t>메인메뉴 화면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8802029-B344-4781-B105-27AE980316D0}"/>
              </a:ext>
            </a:extLst>
          </p:cNvPr>
          <p:cNvSpPr>
            <a:spLocks noGrp="1"/>
          </p:cNvSpPr>
          <p:nvPr/>
        </p:nvSpPr>
        <p:spPr>
          <a:xfrm>
            <a:off x="1866900" y="4730115"/>
            <a:ext cx="1200150" cy="304800"/>
          </a:xfrm>
          <a:prstGeom prst="roundRect">
            <a:avLst>
              <a:gd name="adj" fmla="val 50000"/>
            </a:avLst>
          </a:prstGeom>
          <a:solidFill>
            <a:srgbClr val="E6D8C1"/>
          </a:solidFill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FAB839B-3968-491E-B514-5E1E468643A7}"/>
              </a:ext>
            </a:extLst>
          </p:cNvPr>
          <p:cNvSpPr>
            <a:spLocks noGrp="1"/>
          </p:cNvSpPr>
          <p:nvPr/>
        </p:nvSpPr>
        <p:spPr>
          <a:xfrm>
            <a:off x="1866900" y="4730115"/>
            <a:ext cx="120015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2F261C"/>
                </a:solidFill>
              </a:defRPr>
            </a:pPr>
            <a:r>
              <a:t>프로젝트 정체성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23DF69B-D675-472E-AB81-4A5F3E7CC1C4}"/>
              </a:ext>
            </a:extLst>
          </p:cNvPr>
          <p:cNvSpPr>
            <a:spLocks noGrp="1"/>
          </p:cNvSpPr>
          <p:nvPr/>
        </p:nvSpPr>
        <p:spPr>
          <a:xfrm>
            <a:off x="3181350" y="4730115"/>
            <a:ext cx="1066800" cy="304800"/>
          </a:xfrm>
          <a:prstGeom prst="roundRect">
            <a:avLst>
              <a:gd name="adj" fmla="val 50000"/>
            </a:avLst>
          </a:prstGeom>
          <a:solidFill>
            <a:srgbClr val="F7F0E4"/>
          </a:solidFill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A2D1ACF-81DA-4221-A276-A17818951FC1}"/>
              </a:ext>
            </a:extLst>
          </p:cNvPr>
          <p:cNvSpPr>
            <a:spLocks noGrp="1"/>
          </p:cNvSpPr>
          <p:nvPr/>
        </p:nvSpPr>
        <p:spPr>
          <a:xfrm>
            <a:off x="3181350" y="4730115"/>
            <a:ext cx="10668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8D6E47"/>
                </a:solidFill>
              </a:defRPr>
            </a:pPr>
            <a:r>
              <a:t>도입 슬라이드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E371E0F-7A99-484F-A126-16B791E052CD}"/>
              </a:ext>
            </a:extLst>
          </p:cNvPr>
          <p:cNvSpPr>
            <a:spLocks noGrp="1"/>
          </p:cNvSpPr>
          <p:nvPr/>
        </p:nvSpPr>
        <p:spPr>
          <a:xfrm>
            <a:off x="628650" y="5206365"/>
            <a:ext cx="3238500" cy="1771650"/>
          </a:xfrm>
          <a:prstGeom prst="roundRect">
            <a:avLst>
              <a:gd name="adj" fmla="val 9677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ECD4902-C328-4A03-84D8-0E39EA54CDA2}"/>
              </a:ext>
            </a:extLst>
          </p:cNvPr>
          <p:cNvSpPr>
            <a:spLocks noGrp="1"/>
          </p:cNvSpPr>
          <p:nvPr/>
        </p:nvSpPr>
        <p:spPr>
          <a:xfrm>
            <a:off x="819150" y="539686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첫인상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365D288-2221-4A4B-9C75-962C48F130B9}"/>
              </a:ext>
            </a:extLst>
          </p:cNvPr>
          <p:cNvSpPr>
            <a:spLocks noGrp="1"/>
          </p:cNvSpPr>
          <p:nvPr/>
        </p:nvSpPr>
        <p:spPr>
          <a:xfrm>
            <a:off x="819150" y="5705475"/>
            <a:ext cx="28575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과수 타이쿤이라는 이름과 과수원 배경, 메인 메뉴 구성을 통해 게임의 장르와 분위기를 빠르게 이해하게 만듭니다.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3D6A8E7-7519-4ADB-A118-3E13C73B7B82}"/>
              </a:ext>
            </a:extLst>
          </p:cNvPr>
          <p:cNvSpPr>
            <a:spLocks noGrp="1"/>
          </p:cNvSpPr>
          <p:nvPr/>
        </p:nvSpPr>
        <p:spPr>
          <a:xfrm>
            <a:off x="4038600" y="5206365"/>
            <a:ext cx="3238500" cy="1771650"/>
          </a:xfrm>
          <a:prstGeom prst="roundRect">
            <a:avLst>
              <a:gd name="adj" fmla="val 9677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681F12D-F5DF-414A-A2D8-011A7EDB1EC5}"/>
              </a:ext>
            </a:extLst>
          </p:cNvPr>
          <p:cNvSpPr>
            <a:spLocks noGrp="1"/>
          </p:cNvSpPr>
          <p:nvPr/>
        </p:nvSpPr>
        <p:spPr>
          <a:xfrm>
            <a:off x="4229100" y="539686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도입 역할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0296265-A44B-4B63-8A69-C20A8D039A0B}"/>
              </a:ext>
            </a:extLst>
          </p:cNvPr>
          <p:cNvSpPr>
            <a:spLocks noGrp="1"/>
          </p:cNvSpPr>
          <p:nvPr/>
        </p:nvSpPr>
        <p:spPr>
          <a:xfrm>
            <a:off x="4229100" y="5705475"/>
            <a:ext cx="28575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첫 장에서는 기능 설명보다 ‘청년농의 현실을 다루는 프로젝트’라는 인식을 먼저 심어주는 것이 중요합니다.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B085BF9-6594-4304-94E9-AE31DE9787DE}"/>
              </a:ext>
            </a:extLst>
          </p:cNvPr>
          <p:cNvSpPr>
            <a:spLocks noGrp="1"/>
          </p:cNvSpPr>
          <p:nvPr/>
        </p:nvSpPr>
        <p:spPr>
          <a:xfrm>
            <a:off x="7448550" y="5206365"/>
            <a:ext cx="3238500" cy="1771650"/>
          </a:xfrm>
          <a:prstGeom prst="roundRect">
            <a:avLst>
              <a:gd name="adj" fmla="val 9677"/>
            </a:avLst>
          </a:prstGeom>
          <a:solidFill>
            <a:srgbClr val="EFE4D1"/>
          </a:solidFill>
          <a:ln w="9525">
            <a:solidFill>
              <a:srgbClr val="D3BEA0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ED452F3-DEB2-4A71-94D3-351AB5504496}"/>
              </a:ext>
            </a:extLst>
          </p:cNvPr>
          <p:cNvSpPr>
            <a:spLocks noGrp="1"/>
          </p:cNvSpPr>
          <p:nvPr/>
        </p:nvSpPr>
        <p:spPr>
          <a:xfrm>
            <a:off x="7639050" y="539686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발표 연결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963E9B7-E179-49D9-9360-757529B79DA5}"/>
              </a:ext>
            </a:extLst>
          </p:cNvPr>
          <p:cNvSpPr>
            <a:spLocks noGrp="1"/>
          </p:cNvSpPr>
          <p:nvPr/>
        </p:nvSpPr>
        <p:spPr>
          <a:xfrm>
            <a:off x="7639050" y="5705475"/>
            <a:ext cx="28575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이후 슬라이드에서 경영 난이도와 필지 선택 화면을 이어 보여주며, 실제 판단 구조를 설명하도록 흐름을 잡았습니다.</a:t>
            </a:r>
          </a:p>
        </p:txBody>
      </p:sp>
    </p:spTree>
    <p:extLst>
      <p:ext uri="{BB962C8B-B14F-4D97-AF65-F5344CB8AC3E}">
        <p14:creationId xmlns:p14="http://schemas.microsoft.com/office/powerpoint/2010/main" val="576258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6A6BC9F5-BCBB-47A1-9421-9121504DB8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3"/>
          </a:solidFill>
        </p:spPr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6C21816-A8BC-4131-B1F8-6C162AD70AF3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1811000" cy="6920865"/>
          </a:xfrm>
          <a:prstGeom prst="roundRect">
            <a:avLst>
              <a:gd name="adj" fmla="val 3028"/>
            </a:avLst>
          </a:prstGeom>
          <a:solidFill>
            <a:srgbClr val="FCF8F1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3E55978-833A-499C-AACC-A585823502D6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40005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8D6E47"/>
                </a:solidFill>
              </a:defRPr>
            </a:pPr>
            <a:r>
              <a:t>도입 2 / 경영 난이도 선택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CD240F1-420C-4157-A352-8C74714CE26E}"/>
              </a:ext>
            </a:extLst>
          </p:cNvPr>
          <p:cNvSpPr>
            <a:spLocks noGrp="1"/>
          </p:cNvSpPr>
          <p:nvPr/>
        </p:nvSpPr>
        <p:spPr>
          <a:xfrm>
            <a:off x="628650" y="937260"/>
            <a:ext cx="7239000" cy="6400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2F261C"/>
                </a:solidFill>
              </a:defRPr>
            </a:pPr>
            <a:r>
              <a:t>농업은 시작부터</a:t>
            </a:r>
          </a:p>
          <a:p>
            <a:pPr>
              <a:defRPr sz="2100">
                <a:solidFill>
                  <a:srgbClr val="2F261C"/>
                </a:solidFill>
              </a:defRPr>
            </a:pPr>
            <a:r>
              <a:t>경영 판단입니다.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6FB80D-1AE0-4053-94A2-365B33204A1E}"/>
              </a:ext>
            </a:extLst>
          </p:cNvPr>
          <p:cNvSpPr>
            <a:spLocks noGrp="1"/>
          </p:cNvSpPr>
          <p:nvPr/>
        </p:nvSpPr>
        <p:spPr>
          <a:xfrm>
            <a:off x="628650" y="1748790"/>
            <a:ext cx="6667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25F49"/>
                </a:solidFill>
              </a:defRPr>
            </a:pPr>
            <a:r>
              <a:t>플레이어는 시작 단계에서 경영 난이도, 초기자금, 운영대출,</a:t>
            </a:r>
          </a:p>
          <a:p>
            <a:pPr>
              <a:defRPr sz="1125">
                <a:solidFill>
                  <a:srgbClr val="725F49"/>
                </a:solidFill>
              </a:defRPr>
            </a:pPr>
            <a:r>
              <a:t>신용 수준을 함께 고려하며 출발 조건을 선택합니다.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7076825-0225-41FB-A958-432D54FD66E6}"/>
              </a:ext>
            </a:extLst>
          </p:cNvPr>
          <p:cNvSpPr>
            <a:spLocks noGrp="1"/>
          </p:cNvSpPr>
          <p:nvPr/>
        </p:nvSpPr>
        <p:spPr>
          <a:xfrm>
            <a:off x="628650" y="2263140"/>
            <a:ext cx="1714500" cy="28575"/>
          </a:xfrm>
          <a:prstGeom prst="rect">
            <a:avLst/>
          </a:prstGeom>
          <a:solidFill>
            <a:srgbClr val="8D6E47"/>
          </a:solidFill>
          <a:ln w="0">
            <a:solidFill>
              <a:srgbClr val="8D6E47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36063CB-44FB-4AA7-9F29-B3142E6AFAF3}"/>
              </a:ext>
            </a:extLst>
          </p:cNvPr>
          <p:cNvSpPr>
            <a:spLocks noGrp="1"/>
          </p:cNvSpPr>
          <p:nvPr/>
        </p:nvSpPr>
        <p:spPr>
          <a:xfrm>
            <a:off x="628650" y="2463165"/>
            <a:ext cx="3714750" cy="3333750"/>
          </a:xfrm>
          <a:prstGeom prst="roundRect">
            <a:avLst>
              <a:gd name="adj" fmla="val 6857"/>
            </a:avLst>
          </a:prstGeom>
          <a:solidFill>
            <a:srgbClr val="EFE4D1"/>
          </a:solidFill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53A706-4F2E-4065-B06D-67AAB46AB75B}"/>
              </a:ext>
            </a:extLst>
          </p:cNvPr>
          <p:cNvSpPr>
            <a:spLocks noGrp="1"/>
          </p:cNvSpPr>
          <p:nvPr/>
        </p:nvSpPr>
        <p:spPr>
          <a:xfrm>
            <a:off x="895350" y="2729865"/>
            <a:ext cx="3181350" cy="2171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2F261C"/>
                </a:solidFill>
              </a:defRPr>
            </a:pPr>
            <a:r>
              <a:t>이 화면이 보여주는 것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D974463-F648-4742-974F-38A6E3444C88}"/>
              </a:ext>
            </a:extLst>
          </p:cNvPr>
          <p:cNvSpPr>
            <a:spLocks noGrp="1"/>
          </p:cNvSpPr>
          <p:nvPr/>
        </p:nvSpPr>
        <p:spPr>
          <a:xfrm>
            <a:off x="895350" y="3118485"/>
            <a:ext cx="3181350" cy="10972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2F261C"/>
                </a:solidFill>
              </a:defRPr>
            </a:pPr>
            <a:r>
              <a:t>게임은 재배보다 먼저 ‘어떤 조건으로 출발할 것인가’를 묻습니다.</a:t>
            </a:r>
          </a:p>
          <a:p>
            <a:pPr>
              <a:defRPr sz="1200">
                <a:solidFill>
                  <a:srgbClr val="2F261C"/>
                </a:solidFill>
              </a:defRPr>
            </a:pPr>
            <a:r>
              <a:t>난이도에 따라 시작 자금, 운영대출, 신용 수준이 함께 달라지며,</a:t>
            </a:r>
          </a:p>
          <a:p>
            <a:pPr>
              <a:defRPr sz="1200">
                <a:solidFill>
                  <a:srgbClr val="2F261C"/>
                </a:solidFill>
              </a:defRPr>
            </a:pPr>
            <a:r>
              <a:t>플레이어는 처음부터 경영 감각을 요구받습니다.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5DC215A-4CB6-4BC1-8B83-FB80AB86FA95}"/>
              </a:ext>
            </a:extLst>
          </p:cNvPr>
          <p:cNvSpPr>
            <a:spLocks noGrp="1"/>
          </p:cNvSpPr>
          <p:nvPr/>
        </p:nvSpPr>
        <p:spPr>
          <a:xfrm>
            <a:off x="4514850" y="2463165"/>
            <a:ext cx="6191250" cy="1009650"/>
          </a:xfrm>
          <a:prstGeom prst="roundRect">
            <a:avLst>
              <a:gd name="adj" fmla="val 16981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0CFD90-6D1D-4025-9955-E755FC53A7EE}"/>
              </a:ext>
            </a:extLst>
          </p:cNvPr>
          <p:cNvSpPr>
            <a:spLocks noGrp="1"/>
          </p:cNvSpPr>
          <p:nvPr/>
        </p:nvSpPr>
        <p:spPr>
          <a:xfrm>
            <a:off x="4705350" y="2653665"/>
            <a:ext cx="581025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01 초기자금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71B14B-CD3F-48A9-8FD7-D294989BDC49}"/>
              </a:ext>
            </a:extLst>
          </p:cNvPr>
          <p:cNvSpPr>
            <a:spLocks noGrp="1"/>
          </p:cNvSpPr>
          <p:nvPr/>
        </p:nvSpPr>
        <p:spPr>
          <a:xfrm>
            <a:off x="4705350" y="2962275"/>
            <a:ext cx="5810250" cy="14859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출발 자금이 다르면 초반 운영 리듬과 선택 가능한 범위가 크게 달라집니다.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E191E8A-9F0E-4318-84ED-8CF322CFE7BA}"/>
              </a:ext>
            </a:extLst>
          </p:cNvPr>
          <p:cNvSpPr>
            <a:spLocks noGrp="1"/>
          </p:cNvSpPr>
          <p:nvPr/>
        </p:nvSpPr>
        <p:spPr>
          <a:xfrm>
            <a:off x="4514850" y="3625215"/>
            <a:ext cx="6191250" cy="1009650"/>
          </a:xfrm>
          <a:prstGeom prst="roundRect">
            <a:avLst>
              <a:gd name="adj" fmla="val 16981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A7E572-CF41-457F-A708-731EF353F72D}"/>
              </a:ext>
            </a:extLst>
          </p:cNvPr>
          <p:cNvSpPr>
            <a:spLocks noGrp="1"/>
          </p:cNvSpPr>
          <p:nvPr/>
        </p:nvSpPr>
        <p:spPr>
          <a:xfrm>
            <a:off x="4705350" y="3815715"/>
            <a:ext cx="581025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02 운영대출 · 신용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9931A1F-416A-4F59-A135-99115B78A89A}"/>
              </a:ext>
            </a:extLst>
          </p:cNvPr>
          <p:cNvSpPr>
            <a:spLocks noGrp="1"/>
          </p:cNvSpPr>
          <p:nvPr/>
        </p:nvSpPr>
        <p:spPr>
          <a:xfrm>
            <a:off x="4705350" y="4124325"/>
            <a:ext cx="5810250" cy="14859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자금 부족을 빚으로 보완할지, 안정적으로 출발할지에 따라 농장 운영 태도가 달라집니다.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6BE3673-11F1-43BC-9F7C-A25C936919F1}"/>
              </a:ext>
            </a:extLst>
          </p:cNvPr>
          <p:cNvSpPr>
            <a:spLocks noGrp="1"/>
          </p:cNvSpPr>
          <p:nvPr/>
        </p:nvSpPr>
        <p:spPr>
          <a:xfrm>
            <a:off x="4514850" y="4787265"/>
            <a:ext cx="6191250" cy="1162050"/>
          </a:xfrm>
          <a:prstGeom prst="roundRect">
            <a:avLst>
              <a:gd name="adj" fmla="val 14754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AE777A-97A9-4DEF-9085-BA42992E9247}"/>
              </a:ext>
            </a:extLst>
          </p:cNvPr>
          <p:cNvSpPr>
            <a:spLocks noGrp="1"/>
          </p:cNvSpPr>
          <p:nvPr/>
        </p:nvSpPr>
        <p:spPr>
          <a:xfrm>
            <a:off x="4705350" y="4977765"/>
            <a:ext cx="581025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03 시작 조건의 차별화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CDBD0FD-F250-45D5-820C-92CEF4D9C54C}"/>
              </a:ext>
            </a:extLst>
          </p:cNvPr>
          <p:cNvSpPr>
            <a:spLocks noGrp="1"/>
          </p:cNvSpPr>
          <p:nvPr/>
        </p:nvSpPr>
        <p:spPr>
          <a:xfrm>
            <a:off x="4705350" y="5286375"/>
            <a:ext cx="581025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이 구조는 농업이 단순한 시작 버튼이 아니라, 출발부터 자금과 위험을 설계해야 하는 일이라는 점을 체험하게 만듭니다.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78BAE4D-5D5B-4E34-B018-3C0201984055}"/>
              </a:ext>
            </a:extLst>
          </p:cNvPr>
          <p:cNvSpPr>
            <a:spLocks noGrp="1"/>
          </p:cNvSpPr>
          <p:nvPr/>
        </p:nvSpPr>
        <p:spPr>
          <a:xfrm>
            <a:off x="628650" y="6120765"/>
            <a:ext cx="10934700" cy="552450"/>
          </a:xfrm>
          <a:prstGeom prst="roundRect">
            <a:avLst>
              <a:gd name="adj" fmla="val 27586"/>
            </a:avLst>
          </a:prstGeom>
          <a:solidFill>
            <a:srgbClr val="F7F1E8"/>
          </a:solidFill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DA45547-4993-49FE-9343-FD7D1C1C2B71}"/>
              </a:ext>
            </a:extLst>
          </p:cNvPr>
          <p:cNvSpPr>
            <a:spLocks noGrp="1"/>
          </p:cNvSpPr>
          <p:nvPr/>
        </p:nvSpPr>
        <p:spPr>
          <a:xfrm>
            <a:off x="628650" y="6120765"/>
            <a:ext cx="99060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2F261C"/>
                </a:solidFill>
              </a:defRPr>
            </a:pPr>
            <a:r>
              <a:t>이 게임은 재배보다 먼저, 경영 판단을 요구합니다.</a:t>
            </a:r>
          </a:p>
        </p:txBody>
      </p:sp>
    </p:spTree>
    <p:extLst>
      <p:ext uri="{BB962C8B-B14F-4D97-AF65-F5344CB8AC3E}">
        <p14:creationId xmlns:p14="http://schemas.microsoft.com/office/powerpoint/2010/main" val="1203551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7F6D579-8BC9-4B9F-B174-5ED222F678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3"/>
          </a:solidFill>
        </p:spPr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C441A1A-5566-4986-8767-CBAE05D871F5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1811000" cy="6477000"/>
          </a:xfrm>
          <a:prstGeom prst="roundRect">
            <a:avLst>
              <a:gd name="adj" fmla="val 3235"/>
            </a:avLst>
          </a:prstGeom>
          <a:solidFill>
            <a:srgbClr val="FCF8F1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671C7BF-D233-4889-AF60-1576D5E11057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40005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8D6E47"/>
                </a:solidFill>
              </a:defRPr>
            </a:pPr>
            <a:r>
              <a:t>도입 3 / 필지 선택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AC1505D-C36C-439D-85D9-9A64338C655B}"/>
              </a:ext>
            </a:extLst>
          </p:cNvPr>
          <p:cNvSpPr>
            <a:spLocks noGrp="1"/>
          </p:cNvSpPr>
          <p:nvPr/>
        </p:nvSpPr>
        <p:spPr>
          <a:xfrm>
            <a:off x="628650" y="937260"/>
            <a:ext cx="7239000" cy="6400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2F261C"/>
                </a:solidFill>
              </a:defRPr>
            </a:pPr>
            <a:r>
              <a:t>창농은 땅을 고르는</a:t>
            </a:r>
          </a:p>
          <a:p>
            <a:pPr>
              <a:defRPr sz="2100">
                <a:solidFill>
                  <a:srgbClr val="2F261C"/>
                </a:solidFill>
              </a:defRPr>
            </a:pPr>
            <a:r>
              <a:t>순간부터 시작됩니다.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34BDD4-AA0C-4994-9F70-01254E6396E2}"/>
              </a:ext>
            </a:extLst>
          </p:cNvPr>
          <p:cNvSpPr>
            <a:spLocks noGrp="1"/>
          </p:cNvSpPr>
          <p:nvPr/>
        </p:nvSpPr>
        <p:spPr>
          <a:xfrm>
            <a:off x="628650" y="1748790"/>
            <a:ext cx="6667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25F49"/>
                </a:solidFill>
              </a:defRPr>
            </a:pPr>
            <a:r>
              <a:t>플레이어는 필지 가격만이 아니라 경사, 지하수, 잔여 현금,</a:t>
            </a:r>
          </a:p>
          <a:p>
            <a:pPr>
              <a:defRPr sz="1125">
                <a:solidFill>
                  <a:srgbClr val="725F49"/>
                </a:solidFill>
              </a:defRPr>
            </a:pPr>
            <a:r>
              <a:t>접근성까지 함께 고려하며 첫 농장 입지를 선택합니다.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F429F7-7414-4FC3-B958-56077E0A0650}"/>
              </a:ext>
            </a:extLst>
          </p:cNvPr>
          <p:cNvSpPr>
            <a:spLocks noGrp="1"/>
          </p:cNvSpPr>
          <p:nvPr/>
        </p:nvSpPr>
        <p:spPr>
          <a:xfrm>
            <a:off x="628650" y="2263140"/>
            <a:ext cx="1714500" cy="28575"/>
          </a:xfrm>
          <a:prstGeom prst="rect">
            <a:avLst/>
          </a:prstGeom>
          <a:solidFill>
            <a:srgbClr val="8D6E47"/>
          </a:solidFill>
          <a:ln w="0">
            <a:solidFill>
              <a:srgbClr val="8D6E47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13936F4-5972-4263-94D2-FCC157F30FC1}"/>
              </a:ext>
            </a:extLst>
          </p:cNvPr>
          <p:cNvSpPr>
            <a:spLocks noGrp="1"/>
          </p:cNvSpPr>
          <p:nvPr/>
        </p:nvSpPr>
        <p:spPr>
          <a:xfrm>
            <a:off x="628650" y="2463165"/>
            <a:ext cx="2362200" cy="1638300"/>
          </a:xfrm>
          <a:prstGeom prst="roundRect">
            <a:avLst>
              <a:gd name="adj" fmla="val 10465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3762B3-1CF5-43C4-B67B-D0048B38B33E}"/>
              </a:ext>
            </a:extLst>
          </p:cNvPr>
          <p:cNvSpPr>
            <a:spLocks noGrp="1"/>
          </p:cNvSpPr>
          <p:nvPr/>
        </p:nvSpPr>
        <p:spPr>
          <a:xfrm>
            <a:off x="819150" y="265366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01 필지 가격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A57653-786F-40B7-B4EE-62076CECC702}"/>
              </a:ext>
            </a:extLst>
          </p:cNvPr>
          <p:cNvSpPr>
            <a:spLocks noGrp="1"/>
          </p:cNvSpPr>
          <p:nvPr/>
        </p:nvSpPr>
        <p:spPr>
          <a:xfrm>
            <a:off x="819150" y="2962275"/>
            <a:ext cx="19812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첫 땅의 매입가가 이후 남는 현금과 운영 여력을 직접 바꿉니다.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1837DA7-FBF5-43F5-B6C7-2771D75F5085}"/>
              </a:ext>
            </a:extLst>
          </p:cNvPr>
          <p:cNvSpPr>
            <a:spLocks noGrp="1"/>
          </p:cNvSpPr>
          <p:nvPr/>
        </p:nvSpPr>
        <p:spPr>
          <a:xfrm>
            <a:off x="3124200" y="2463165"/>
            <a:ext cx="2362200" cy="1638300"/>
          </a:xfrm>
          <a:prstGeom prst="roundRect">
            <a:avLst>
              <a:gd name="adj" fmla="val 10465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6D920B7-6BA4-4735-8D7A-E9F75B2724C0}"/>
              </a:ext>
            </a:extLst>
          </p:cNvPr>
          <p:cNvSpPr>
            <a:spLocks noGrp="1"/>
          </p:cNvSpPr>
          <p:nvPr/>
        </p:nvSpPr>
        <p:spPr>
          <a:xfrm>
            <a:off x="3314700" y="265366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02 경사와 지형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B1FE154-7383-484C-B0F1-CD714AFC04E0}"/>
              </a:ext>
            </a:extLst>
          </p:cNvPr>
          <p:cNvSpPr>
            <a:spLocks noGrp="1"/>
          </p:cNvSpPr>
          <p:nvPr/>
        </p:nvSpPr>
        <p:spPr>
          <a:xfrm>
            <a:off x="3314700" y="2962275"/>
            <a:ext cx="19812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같은 면적이라도 경사도와 입지는 작업 편의와 운영 부담을 다르게 만듭니다.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7116F33-F233-43AF-8FFB-C43B2C22FEC6}"/>
              </a:ext>
            </a:extLst>
          </p:cNvPr>
          <p:cNvSpPr>
            <a:spLocks noGrp="1"/>
          </p:cNvSpPr>
          <p:nvPr/>
        </p:nvSpPr>
        <p:spPr>
          <a:xfrm>
            <a:off x="5619750" y="2463165"/>
            <a:ext cx="2362200" cy="1638300"/>
          </a:xfrm>
          <a:prstGeom prst="roundRect">
            <a:avLst>
              <a:gd name="adj" fmla="val 10465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E27CD43-93D1-4316-AEDF-3AA8DD9B000F}"/>
              </a:ext>
            </a:extLst>
          </p:cNvPr>
          <p:cNvSpPr>
            <a:spLocks noGrp="1"/>
          </p:cNvSpPr>
          <p:nvPr/>
        </p:nvSpPr>
        <p:spPr>
          <a:xfrm>
            <a:off x="5810250" y="265366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03 지하수 조건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852B06-30DF-4900-AF7E-7CDF63293115}"/>
              </a:ext>
            </a:extLst>
          </p:cNvPr>
          <p:cNvSpPr>
            <a:spLocks noGrp="1"/>
          </p:cNvSpPr>
          <p:nvPr/>
        </p:nvSpPr>
        <p:spPr>
          <a:xfrm>
            <a:off x="5810250" y="2962275"/>
            <a:ext cx="19812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지하수 기본량은 장기 재배 운영의 안정성과 연결되는 핵심 자원입니다.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E085D28-EF6E-408B-A3C6-B6F6806FE961}"/>
              </a:ext>
            </a:extLst>
          </p:cNvPr>
          <p:cNvSpPr>
            <a:spLocks noGrp="1"/>
          </p:cNvSpPr>
          <p:nvPr/>
        </p:nvSpPr>
        <p:spPr>
          <a:xfrm>
            <a:off x="8115300" y="2463165"/>
            <a:ext cx="2362200" cy="1638300"/>
          </a:xfrm>
          <a:prstGeom prst="roundRect">
            <a:avLst>
              <a:gd name="adj" fmla="val 10465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45CE3A5-FF02-4D2F-AFB2-44DEADD80588}"/>
              </a:ext>
            </a:extLst>
          </p:cNvPr>
          <p:cNvSpPr>
            <a:spLocks noGrp="1"/>
          </p:cNvSpPr>
          <p:nvPr/>
        </p:nvSpPr>
        <p:spPr>
          <a:xfrm>
            <a:off x="8305800" y="265366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04 잔여 현금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F783E9E-EE8F-4176-A9DA-C66A21D13FE3}"/>
              </a:ext>
            </a:extLst>
          </p:cNvPr>
          <p:cNvSpPr>
            <a:spLocks noGrp="1"/>
          </p:cNvSpPr>
          <p:nvPr/>
        </p:nvSpPr>
        <p:spPr>
          <a:xfrm>
            <a:off x="8305800" y="2962275"/>
            <a:ext cx="19812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땅을 사고 남은 현금이 적으면 곧바로 다음 선택의 폭도 좁아지게 됩니다.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5FE0B93-D22F-4067-9FEF-3F7C2F0FF8BB}"/>
              </a:ext>
            </a:extLst>
          </p:cNvPr>
          <p:cNvSpPr>
            <a:spLocks noGrp="1"/>
          </p:cNvSpPr>
          <p:nvPr/>
        </p:nvSpPr>
        <p:spPr>
          <a:xfrm>
            <a:off x="628650" y="4272915"/>
            <a:ext cx="10934700" cy="552450"/>
          </a:xfrm>
          <a:prstGeom prst="roundRect">
            <a:avLst>
              <a:gd name="adj" fmla="val 27586"/>
            </a:avLst>
          </a:prstGeom>
          <a:solidFill>
            <a:srgbClr val="EFE4D1"/>
          </a:solidFill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7677088-3E0C-47E5-B9DB-8BDA3F233FE5}"/>
              </a:ext>
            </a:extLst>
          </p:cNvPr>
          <p:cNvSpPr>
            <a:spLocks noGrp="1"/>
          </p:cNvSpPr>
          <p:nvPr/>
        </p:nvSpPr>
        <p:spPr>
          <a:xfrm>
            <a:off x="628650" y="4272915"/>
            <a:ext cx="99060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2F261C"/>
                </a:solidFill>
              </a:defRPr>
            </a:pPr>
            <a:r>
              <a:t>이 게임은 첫 필지 선택부터 현실적인 농장 의사결정을 요구합니다.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5D2AB7A-1F48-408A-937E-6BB430A47B1B}"/>
              </a:ext>
            </a:extLst>
          </p:cNvPr>
          <p:cNvSpPr>
            <a:spLocks noGrp="1"/>
          </p:cNvSpPr>
          <p:nvPr/>
        </p:nvSpPr>
        <p:spPr>
          <a:xfrm>
            <a:off x="628650" y="4996815"/>
            <a:ext cx="4953000" cy="876300"/>
          </a:xfrm>
          <a:prstGeom prst="roundRect">
            <a:avLst>
              <a:gd name="adj" fmla="val 19565"/>
            </a:avLst>
          </a:prstGeom>
          <a:solidFill>
            <a:srgbClr val="E7ECD9"/>
          </a:solidFill>
          <a:ln w="9525">
            <a:solidFill>
              <a:srgbClr val="C8D4AD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A0D8846-3498-470E-BE6F-30FFCFF36C09}"/>
              </a:ext>
            </a:extLst>
          </p:cNvPr>
          <p:cNvSpPr>
            <a:spLocks noGrp="1"/>
          </p:cNvSpPr>
          <p:nvPr/>
        </p:nvSpPr>
        <p:spPr>
          <a:xfrm>
            <a:off x="819150" y="5187315"/>
            <a:ext cx="45720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현실성의 핵심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267D1F8-E778-4E59-A0D0-C2071A25B4F3}"/>
              </a:ext>
            </a:extLst>
          </p:cNvPr>
          <p:cNvSpPr>
            <a:spLocks noGrp="1"/>
          </p:cNvSpPr>
          <p:nvPr/>
        </p:nvSpPr>
        <p:spPr>
          <a:xfrm>
            <a:off x="819150" y="5495925"/>
            <a:ext cx="4572000" cy="14859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농장 시작은 단순 배치가 아니라 입지와 자원 배분의 판단이라는 점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58ACAEE-EE25-4043-A338-C56CDF560941}"/>
              </a:ext>
            </a:extLst>
          </p:cNvPr>
          <p:cNvSpPr>
            <a:spLocks noGrp="1"/>
          </p:cNvSpPr>
          <p:nvPr/>
        </p:nvSpPr>
        <p:spPr>
          <a:xfrm>
            <a:off x="5753100" y="4996815"/>
            <a:ext cx="4953000" cy="876300"/>
          </a:xfrm>
          <a:prstGeom prst="roundRect">
            <a:avLst>
              <a:gd name="adj" fmla="val 19565"/>
            </a:avLst>
          </a:prstGeom>
          <a:solidFill>
            <a:srgbClr val="F3EADC"/>
          </a:solidFill>
          <a:ln w="9525">
            <a:solidFill>
              <a:srgbClr val="E0CFB0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57B7FF9-3791-4EBE-BCF7-CF0958E67334}"/>
              </a:ext>
            </a:extLst>
          </p:cNvPr>
          <p:cNvSpPr>
            <a:spLocks noGrp="1"/>
          </p:cNvSpPr>
          <p:nvPr/>
        </p:nvSpPr>
        <p:spPr>
          <a:xfrm>
            <a:off x="5943600" y="5187315"/>
            <a:ext cx="45720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창농마인드 연결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2AEB2F4-D03D-45C5-9143-710D4BEBA141}"/>
              </a:ext>
            </a:extLst>
          </p:cNvPr>
          <p:cNvSpPr>
            <a:spLocks noGrp="1"/>
          </p:cNvSpPr>
          <p:nvPr/>
        </p:nvSpPr>
        <p:spPr>
          <a:xfrm>
            <a:off x="5943600" y="5495925"/>
            <a:ext cx="4572000" cy="14859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청년농이 농업을 ‘선택과 책임의 일’로 받아들이게 만드는 구조</a:t>
            </a:r>
          </a:p>
        </p:txBody>
      </p:sp>
    </p:spTree>
    <p:extLst>
      <p:ext uri="{BB962C8B-B14F-4D97-AF65-F5344CB8AC3E}">
        <p14:creationId xmlns:p14="http://schemas.microsoft.com/office/powerpoint/2010/main" val="170174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5AE80589-448C-45BB-B0EB-5740FEAD83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3"/>
          </a:solidFill>
        </p:spPr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50D17A-30CC-4167-A6D4-B75606A7D046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1811000" cy="6477000"/>
          </a:xfrm>
          <a:prstGeom prst="roundRect">
            <a:avLst>
              <a:gd name="adj" fmla="val 3235"/>
            </a:avLst>
          </a:prstGeom>
          <a:solidFill>
            <a:srgbClr val="FCF8F1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92F20A-BBDA-4600-8FDD-F3085F138E7B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40005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8D6E47"/>
                </a:solidFill>
              </a:defRPr>
            </a:pPr>
            <a:r>
              <a:t>게임 구성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AD1E3CE-FF5F-488C-ABEC-BF5BA67F81C1}"/>
              </a:ext>
            </a:extLst>
          </p:cNvPr>
          <p:cNvSpPr>
            <a:spLocks noGrp="1"/>
          </p:cNvSpPr>
          <p:nvPr/>
        </p:nvSpPr>
        <p:spPr>
          <a:xfrm>
            <a:off x="628650" y="937260"/>
            <a:ext cx="7239000" cy="3200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2F261C"/>
                </a:solidFill>
              </a:defRPr>
            </a:pPr>
            <a:r>
              <a:t>현실형 과수 농장 시뮬레이션의 핵심 구조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5F1CB4-E3D2-4FFB-BC53-9185CD61BB21}"/>
              </a:ext>
            </a:extLst>
          </p:cNvPr>
          <p:cNvSpPr>
            <a:spLocks noGrp="1"/>
          </p:cNvSpPr>
          <p:nvPr/>
        </p:nvSpPr>
        <p:spPr>
          <a:xfrm>
            <a:off x="628650" y="1428750"/>
            <a:ext cx="6667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25F49"/>
                </a:solidFill>
              </a:defRPr>
            </a:pPr>
            <a:r>
              <a:t>플레이어는 단순한 수확 반복이 아니라,</a:t>
            </a:r>
          </a:p>
          <a:p>
            <a:pPr>
              <a:defRPr sz="1125">
                <a:solidFill>
                  <a:srgbClr val="725F49"/>
                </a:solidFill>
              </a:defRPr>
            </a:pPr>
            <a:r>
              <a:t>농장 운영 전반을 연결된 시스템으로 경험하게 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5FAA272-74F8-4E95-9A06-A76AA6144066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1714500" cy="28575"/>
          </a:xfrm>
          <a:prstGeom prst="rect">
            <a:avLst/>
          </a:prstGeom>
          <a:solidFill>
            <a:srgbClr val="8D6E47"/>
          </a:solidFill>
          <a:ln w="0">
            <a:solidFill>
              <a:srgbClr val="8D6E47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52B33C9-D2F2-4BE0-B0AF-EA2C4570FDA1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2362200" cy="1409700"/>
          </a:xfrm>
          <a:prstGeom prst="roundRect">
            <a:avLst>
              <a:gd name="adj" fmla="val 12162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B51FE73-13F1-4864-8821-B6600ADC1EC6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재배 관리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208844A-778F-4CD4-9867-098B326FB6C4}"/>
              </a:ext>
            </a:extLst>
          </p:cNvPr>
          <p:cNvSpPr>
            <a:spLocks noGrp="1"/>
          </p:cNvSpPr>
          <p:nvPr/>
        </p:nvSpPr>
        <p:spPr>
          <a:xfrm>
            <a:off x="819150" y="2642235"/>
            <a:ext cx="19812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묘목 식재, 생육 단계, 적과, 방제, 수확 시기 같은 재배 흐름을 직접 다룹니다.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21084BA-475C-47A8-9379-9D7017A1D585}"/>
              </a:ext>
            </a:extLst>
          </p:cNvPr>
          <p:cNvSpPr>
            <a:spLocks noGrp="1"/>
          </p:cNvSpPr>
          <p:nvPr/>
        </p:nvSpPr>
        <p:spPr>
          <a:xfrm>
            <a:off x="3124200" y="2143125"/>
            <a:ext cx="2362200" cy="1409700"/>
          </a:xfrm>
          <a:prstGeom prst="roundRect">
            <a:avLst>
              <a:gd name="adj" fmla="val 12162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F74841-3E11-47D9-814B-B42DC7E8CC39}"/>
              </a:ext>
            </a:extLst>
          </p:cNvPr>
          <p:cNvSpPr>
            <a:spLocks noGrp="1"/>
          </p:cNvSpPr>
          <p:nvPr/>
        </p:nvSpPr>
        <p:spPr>
          <a:xfrm>
            <a:off x="3314700" y="233362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노동 · 장비 운용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BD50C6A-2B76-4D6A-A5A1-B0EA4C066CE1}"/>
              </a:ext>
            </a:extLst>
          </p:cNvPr>
          <p:cNvSpPr>
            <a:spLocks noGrp="1"/>
          </p:cNvSpPr>
          <p:nvPr/>
        </p:nvSpPr>
        <p:spPr>
          <a:xfrm>
            <a:off x="3314700" y="2642235"/>
            <a:ext cx="19812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작업 인력과 장비 사용이 효율에 영향을 주도록 설계해 현장 운영의 부담을 반영합니다.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45B5385-C631-40E0-8481-CCA4ABC47BE0}"/>
              </a:ext>
            </a:extLst>
          </p:cNvPr>
          <p:cNvSpPr>
            <a:spLocks noGrp="1"/>
          </p:cNvSpPr>
          <p:nvPr/>
        </p:nvSpPr>
        <p:spPr>
          <a:xfrm>
            <a:off x="628650" y="3686175"/>
            <a:ext cx="2362200" cy="1409700"/>
          </a:xfrm>
          <a:prstGeom prst="roundRect">
            <a:avLst>
              <a:gd name="adj" fmla="val 12162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2A7FDC4-92BA-4DF5-AFDE-AAF565C087E4}"/>
              </a:ext>
            </a:extLst>
          </p:cNvPr>
          <p:cNvSpPr>
            <a:spLocks noGrp="1"/>
          </p:cNvSpPr>
          <p:nvPr/>
        </p:nvSpPr>
        <p:spPr>
          <a:xfrm>
            <a:off x="819150" y="387667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계절 · 날씨 변수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AB57EC4-D80A-47F3-A97E-AC05C4AEE2A8}"/>
              </a:ext>
            </a:extLst>
          </p:cNvPr>
          <p:cNvSpPr>
            <a:spLocks noGrp="1"/>
          </p:cNvSpPr>
          <p:nvPr/>
        </p:nvSpPr>
        <p:spPr>
          <a:xfrm>
            <a:off x="819150" y="4185285"/>
            <a:ext cx="19812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농업은 같은 작업도 시기와 환경에 따라 결과가 달라진다는 점을 체감하게 합니다.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50E45A1-6C3E-451F-A1AB-29E3D1CB14F4}"/>
              </a:ext>
            </a:extLst>
          </p:cNvPr>
          <p:cNvSpPr>
            <a:spLocks noGrp="1"/>
          </p:cNvSpPr>
          <p:nvPr/>
        </p:nvSpPr>
        <p:spPr>
          <a:xfrm>
            <a:off x="3124200" y="3686175"/>
            <a:ext cx="2362200" cy="1409700"/>
          </a:xfrm>
          <a:prstGeom prst="roundRect">
            <a:avLst>
              <a:gd name="adj" fmla="val 12162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03D800C-5B33-4E75-8001-E6239767A81D}"/>
              </a:ext>
            </a:extLst>
          </p:cNvPr>
          <p:cNvSpPr>
            <a:spLocks noGrp="1"/>
          </p:cNvSpPr>
          <p:nvPr/>
        </p:nvSpPr>
        <p:spPr>
          <a:xfrm>
            <a:off x="3314700" y="387667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비용 · 수익 흐름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7B8785C-0F05-4CFE-A921-8E477E924616}"/>
              </a:ext>
            </a:extLst>
          </p:cNvPr>
          <p:cNvSpPr>
            <a:spLocks noGrp="1"/>
          </p:cNvSpPr>
          <p:nvPr/>
        </p:nvSpPr>
        <p:spPr>
          <a:xfrm>
            <a:off x="3314700" y="4185285"/>
            <a:ext cx="19812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소모품 구매, 작업비, 수확 수익이 연결되어 있어 경영 감각까지 함께 요구합니다.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9CC8A15-F1B5-49B7-95D4-ED16E1FC57DF}"/>
              </a:ext>
            </a:extLst>
          </p:cNvPr>
          <p:cNvSpPr>
            <a:spLocks noGrp="1"/>
          </p:cNvSpPr>
          <p:nvPr/>
        </p:nvSpPr>
        <p:spPr>
          <a:xfrm>
            <a:off x="5657850" y="2143125"/>
            <a:ext cx="5143500" cy="2952750"/>
          </a:xfrm>
          <a:prstGeom prst="roundRect">
            <a:avLst>
              <a:gd name="adj" fmla="val 7742"/>
            </a:avLst>
          </a:prstGeom>
          <a:solidFill>
            <a:srgbClr val="EFE4D1"/>
          </a:solidFill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51022AC-A86E-4DB7-906A-17765B9F12E0}"/>
              </a:ext>
            </a:extLst>
          </p:cNvPr>
          <p:cNvSpPr>
            <a:spLocks noGrp="1"/>
          </p:cNvSpPr>
          <p:nvPr/>
        </p:nvSpPr>
        <p:spPr>
          <a:xfrm>
            <a:off x="5924550" y="2409825"/>
            <a:ext cx="4610100" cy="2171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2F261C"/>
                </a:solidFill>
              </a:defRPr>
            </a:pPr>
            <a:r>
              <a:t>플레이어가 직접 하게 되는 판단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C92C30-64F0-4345-B97A-0CC932AA29B9}"/>
              </a:ext>
            </a:extLst>
          </p:cNvPr>
          <p:cNvSpPr>
            <a:spLocks noGrp="1"/>
          </p:cNvSpPr>
          <p:nvPr/>
        </p:nvSpPr>
        <p:spPr>
          <a:xfrm>
            <a:off x="5924550" y="2798445"/>
            <a:ext cx="4610100" cy="1028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2F261C"/>
                </a:solidFill>
              </a:defRPr>
            </a:pPr>
            <a:r>
              <a:t>• 어떤 품종과 묘목을 선택할 것인가</a:t>
            </a:r>
          </a:p>
          <a:p>
            <a:pPr>
              <a:defRPr sz="1350">
                <a:solidFill>
                  <a:srgbClr val="2F261C"/>
                </a:solidFill>
              </a:defRPr>
            </a:pPr>
            <a:r>
              <a:t>• 지금 작업을 진행할지 기다릴 것인가</a:t>
            </a:r>
          </a:p>
          <a:p>
            <a:pPr>
              <a:defRPr sz="1350">
                <a:solidFill>
                  <a:srgbClr val="2F261C"/>
                </a:solidFill>
              </a:defRPr>
            </a:pPr>
            <a:r>
              <a:t>• 노동력과 장비를 어디에 우선 배치할 것인가</a:t>
            </a:r>
          </a:p>
          <a:p>
            <a:pPr>
              <a:defRPr sz="1350">
                <a:solidFill>
                  <a:srgbClr val="2F261C"/>
                </a:solidFill>
              </a:defRPr>
            </a:pPr>
            <a:r>
              <a:t>• 비용을 감수하고 품질을 높일지 보수적으로 갈 것인가</a:t>
            </a:r>
          </a:p>
          <a:p>
            <a:pPr>
              <a:defRPr sz="1350">
                <a:solidFill>
                  <a:srgbClr val="2F261C"/>
                </a:solidFill>
              </a:defRPr>
            </a:pPr>
            <a:r>
              <a:t>• 계절 변화에 맞춰 다음 단계 운영을 어떻게 조정할 것인가</a:t>
            </a:r>
          </a:p>
        </p:txBody>
      </p:sp>
    </p:spTree>
    <p:extLst>
      <p:ext uri="{BB962C8B-B14F-4D97-AF65-F5344CB8AC3E}">
        <p14:creationId xmlns:p14="http://schemas.microsoft.com/office/powerpoint/2010/main" val="793513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5F6988DA-0B40-48E5-B77B-8530154290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3"/>
          </a:solidFill>
        </p:spPr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D7CAFD1-D7BE-4FB7-A3AF-96C51F30F6A0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1811000" cy="6477000"/>
          </a:xfrm>
          <a:prstGeom prst="roundRect">
            <a:avLst>
              <a:gd name="adj" fmla="val 3235"/>
            </a:avLst>
          </a:prstGeom>
          <a:solidFill>
            <a:srgbClr val="FCF8F1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91D6E9B-E5A9-4183-99E6-9A0CA3E17D62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40005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8D6E47"/>
                </a:solidFill>
              </a:defRPr>
            </a:pPr>
            <a:r>
              <a:t>현실성 설계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60661E4-5F28-4872-8A22-A43FB22368CA}"/>
              </a:ext>
            </a:extLst>
          </p:cNvPr>
          <p:cNvSpPr>
            <a:spLocks noGrp="1"/>
          </p:cNvSpPr>
          <p:nvPr/>
        </p:nvSpPr>
        <p:spPr>
          <a:xfrm>
            <a:off x="628650" y="937260"/>
            <a:ext cx="7239000" cy="3200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2F261C"/>
                </a:solidFill>
              </a:defRPr>
            </a:pPr>
            <a:r>
              <a:t>게임 안에 반영한 현실형 농업 요소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675111A-2186-42AB-8EDD-B4A702E29B03}"/>
              </a:ext>
            </a:extLst>
          </p:cNvPr>
          <p:cNvSpPr>
            <a:spLocks noGrp="1"/>
          </p:cNvSpPr>
          <p:nvPr/>
        </p:nvSpPr>
        <p:spPr>
          <a:xfrm>
            <a:off x="628650" y="1428750"/>
            <a:ext cx="6667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25F49"/>
                </a:solidFill>
              </a:defRPr>
            </a:pPr>
            <a:r>
              <a:t>이 프로젝트는 농업을 단순화하는 대신,</a:t>
            </a:r>
          </a:p>
          <a:p>
            <a:pPr>
              <a:defRPr sz="1125">
                <a:solidFill>
                  <a:srgbClr val="725F49"/>
                </a:solidFill>
              </a:defRPr>
            </a:pPr>
            <a:r>
              <a:t>과수 운영에서 실제로 중요한 판단 요소들을 시스템 안에 녹여냈습니다.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BB5A45B-EC86-4B27-ABC2-3EEF6F4CC686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1714500" cy="28575"/>
          </a:xfrm>
          <a:prstGeom prst="rect">
            <a:avLst/>
          </a:prstGeom>
          <a:solidFill>
            <a:srgbClr val="8D6E47"/>
          </a:solidFill>
          <a:ln w="0">
            <a:solidFill>
              <a:srgbClr val="8D6E47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8332F4C-F1FF-4221-A29F-E178413AC167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3238500" cy="1314450"/>
          </a:xfrm>
          <a:prstGeom prst="roundRect">
            <a:avLst>
              <a:gd name="adj" fmla="val 13043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9E9E12E-7143-447C-838C-14404C86D9A5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작업 시기 판단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C0C9417-84D1-4CC8-A9BD-66A3C81A7704}"/>
              </a:ext>
            </a:extLst>
          </p:cNvPr>
          <p:cNvSpPr>
            <a:spLocks noGrp="1"/>
          </p:cNvSpPr>
          <p:nvPr/>
        </p:nvSpPr>
        <p:spPr>
          <a:xfrm>
            <a:off x="819150" y="2642235"/>
            <a:ext cx="28575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같은 작업도 언제 하느냐에 따라 의미가 달라진다는 과수 운영 특성을 반영했습니다.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FCCFCB7-5CB2-457E-BD75-604FF40A52F0}"/>
              </a:ext>
            </a:extLst>
          </p:cNvPr>
          <p:cNvSpPr>
            <a:spLocks noGrp="1"/>
          </p:cNvSpPr>
          <p:nvPr/>
        </p:nvSpPr>
        <p:spPr>
          <a:xfrm>
            <a:off x="4000500" y="2143125"/>
            <a:ext cx="3238500" cy="1314450"/>
          </a:xfrm>
          <a:prstGeom prst="roundRect">
            <a:avLst>
              <a:gd name="adj" fmla="val 13043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5A24F38-B8A2-4B4A-8439-0913A5B5570F}"/>
              </a:ext>
            </a:extLst>
          </p:cNvPr>
          <p:cNvSpPr>
            <a:spLocks noGrp="1"/>
          </p:cNvSpPr>
          <p:nvPr/>
        </p:nvSpPr>
        <p:spPr>
          <a:xfrm>
            <a:off x="4191000" y="23336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생육과 재배 흐름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9345C5F-9A02-458F-8776-3839C6D16AB4}"/>
              </a:ext>
            </a:extLst>
          </p:cNvPr>
          <p:cNvSpPr>
            <a:spLocks noGrp="1"/>
          </p:cNvSpPr>
          <p:nvPr/>
        </p:nvSpPr>
        <p:spPr>
          <a:xfrm>
            <a:off x="4191000" y="2642235"/>
            <a:ext cx="28575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묘목 단계부터 관리와 수확까지 이어지는 장기 흐름을 단절 없이 경험하게 합니다.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7AB40AE-44B6-4364-9DA3-98C8BB4CC9A1}"/>
              </a:ext>
            </a:extLst>
          </p:cNvPr>
          <p:cNvSpPr>
            <a:spLocks noGrp="1"/>
          </p:cNvSpPr>
          <p:nvPr/>
        </p:nvSpPr>
        <p:spPr>
          <a:xfrm>
            <a:off x="7372350" y="2143125"/>
            <a:ext cx="3238500" cy="1314450"/>
          </a:xfrm>
          <a:prstGeom prst="roundRect">
            <a:avLst>
              <a:gd name="adj" fmla="val 13043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52A105-28A5-476E-9195-1F964CC98C2D}"/>
              </a:ext>
            </a:extLst>
          </p:cNvPr>
          <p:cNvSpPr>
            <a:spLocks noGrp="1"/>
          </p:cNvSpPr>
          <p:nvPr/>
        </p:nvSpPr>
        <p:spPr>
          <a:xfrm>
            <a:off x="7562850" y="23336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노동력의 한계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FF35BC-EDCA-49D7-8A38-30471F19EA91}"/>
              </a:ext>
            </a:extLst>
          </p:cNvPr>
          <p:cNvSpPr>
            <a:spLocks noGrp="1"/>
          </p:cNvSpPr>
          <p:nvPr/>
        </p:nvSpPr>
        <p:spPr>
          <a:xfrm>
            <a:off x="7562850" y="2642235"/>
            <a:ext cx="28575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사람과 시간은 항상 부족할 수 있다는 현실을 넣어 우선순위 판단을 요구합니다.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A4B9BF2-974E-4F45-A28C-0E1EF8448779}"/>
              </a:ext>
            </a:extLst>
          </p:cNvPr>
          <p:cNvSpPr>
            <a:spLocks noGrp="1"/>
          </p:cNvSpPr>
          <p:nvPr/>
        </p:nvSpPr>
        <p:spPr>
          <a:xfrm>
            <a:off x="628650" y="3629025"/>
            <a:ext cx="3238500" cy="1314450"/>
          </a:xfrm>
          <a:prstGeom prst="roundRect">
            <a:avLst>
              <a:gd name="adj" fmla="val 13043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2E36934-3AD4-4FB6-BF9E-3F7D6C0FCF33}"/>
              </a:ext>
            </a:extLst>
          </p:cNvPr>
          <p:cNvSpPr>
            <a:spLocks noGrp="1"/>
          </p:cNvSpPr>
          <p:nvPr/>
        </p:nvSpPr>
        <p:spPr>
          <a:xfrm>
            <a:off x="819150" y="38195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장비와 소모품 운용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E439A0D-B053-48B6-BC99-74FB5E147BF9}"/>
              </a:ext>
            </a:extLst>
          </p:cNvPr>
          <p:cNvSpPr>
            <a:spLocks noGrp="1"/>
          </p:cNvSpPr>
          <p:nvPr/>
        </p:nvSpPr>
        <p:spPr>
          <a:xfrm>
            <a:off x="819150" y="4128135"/>
            <a:ext cx="28575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재배는 손기술만으로 끝나지 않고 장비·소모품 선택이 결과에 연결되도록 설계했습니다.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FDF4E15-7AEB-475F-AAC0-D785D7D3DF44}"/>
              </a:ext>
            </a:extLst>
          </p:cNvPr>
          <p:cNvSpPr>
            <a:spLocks noGrp="1"/>
          </p:cNvSpPr>
          <p:nvPr/>
        </p:nvSpPr>
        <p:spPr>
          <a:xfrm>
            <a:off x="4000500" y="3629025"/>
            <a:ext cx="3238500" cy="1314450"/>
          </a:xfrm>
          <a:prstGeom prst="roundRect">
            <a:avLst>
              <a:gd name="adj" fmla="val 13043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2DF4F69-8912-4030-B9B5-5C9073ABED77}"/>
              </a:ext>
            </a:extLst>
          </p:cNvPr>
          <p:cNvSpPr>
            <a:spLocks noGrp="1"/>
          </p:cNvSpPr>
          <p:nvPr/>
        </p:nvSpPr>
        <p:spPr>
          <a:xfrm>
            <a:off x="4191000" y="38195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계절 · 날씨 변화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87AF1DA-2013-4CF4-A573-3CC0C5DCF5CF}"/>
              </a:ext>
            </a:extLst>
          </p:cNvPr>
          <p:cNvSpPr>
            <a:spLocks noGrp="1"/>
          </p:cNvSpPr>
          <p:nvPr/>
        </p:nvSpPr>
        <p:spPr>
          <a:xfrm>
            <a:off x="4191000" y="4128135"/>
            <a:ext cx="28575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농사는 달력과 날씨를 무시하고 진행할 수 없다는 점을 플레이 흐름에 반영했습니다.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0DE6E76-69A1-4FCB-A496-DA280FD19406}"/>
              </a:ext>
            </a:extLst>
          </p:cNvPr>
          <p:cNvSpPr>
            <a:spLocks noGrp="1"/>
          </p:cNvSpPr>
          <p:nvPr/>
        </p:nvSpPr>
        <p:spPr>
          <a:xfrm>
            <a:off x="7372350" y="3629025"/>
            <a:ext cx="3238500" cy="1314450"/>
          </a:xfrm>
          <a:prstGeom prst="roundRect">
            <a:avLst>
              <a:gd name="adj" fmla="val 13043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778FCF1-A2A5-479A-9B94-7A58256731D8}"/>
              </a:ext>
            </a:extLst>
          </p:cNvPr>
          <p:cNvSpPr>
            <a:spLocks noGrp="1"/>
          </p:cNvSpPr>
          <p:nvPr/>
        </p:nvSpPr>
        <p:spPr>
          <a:xfrm>
            <a:off x="7562850" y="38195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비용과 수익 계산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AFFEBF3-2001-4435-A136-F1355CB258BE}"/>
              </a:ext>
            </a:extLst>
          </p:cNvPr>
          <p:cNvSpPr>
            <a:spLocks noGrp="1"/>
          </p:cNvSpPr>
          <p:nvPr/>
        </p:nvSpPr>
        <p:spPr>
          <a:xfrm>
            <a:off x="7562850" y="4128135"/>
            <a:ext cx="28575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좋은 재배 판단도 자금 흐름과 연결되지 않으면 지속되기 어렵다는 경영 현실을 담았습니다.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144DFBE-6D2A-46E7-BB57-CCEE3F4B0F54}"/>
              </a:ext>
            </a:extLst>
          </p:cNvPr>
          <p:cNvSpPr>
            <a:spLocks noGrp="1"/>
          </p:cNvSpPr>
          <p:nvPr/>
        </p:nvSpPr>
        <p:spPr>
          <a:xfrm>
            <a:off x="628650" y="5114925"/>
            <a:ext cx="10934700" cy="552450"/>
          </a:xfrm>
          <a:prstGeom prst="roundRect">
            <a:avLst>
              <a:gd name="adj" fmla="val 27586"/>
            </a:avLst>
          </a:prstGeom>
          <a:solidFill>
            <a:srgbClr val="EFE4D1"/>
          </a:solidFill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7B3BBCE-95FC-4E72-9A2D-2B56E24108BF}"/>
              </a:ext>
            </a:extLst>
          </p:cNvPr>
          <p:cNvSpPr>
            <a:spLocks noGrp="1"/>
          </p:cNvSpPr>
          <p:nvPr/>
        </p:nvSpPr>
        <p:spPr>
          <a:xfrm>
            <a:off x="628650" y="5114925"/>
            <a:ext cx="99060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2F261C"/>
                </a:solidFill>
              </a:defRPr>
            </a:pPr>
            <a:r>
              <a:t>결국 이 게임의 현실성은 ‘보이는 농업’이 아니라 ‘판단해야 하는 농업’을 만든 데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142401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BB7074AB-D2AC-45B5-A73F-1BD7C4E769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3"/>
          </a:solidFill>
        </p:spPr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7885333-CEB7-421C-8DAB-C6AA55976B9D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1811000" cy="6477000"/>
          </a:xfrm>
          <a:prstGeom prst="roundRect">
            <a:avLst>
              <a:gd name="adj" fmla="val 3235"/>
            </a:avLst>
          </a:prstGeom>
          <a:solidFill>
            <a:srgbClr val="FCF8F1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E723315-9955-4B87-87D2-C4895C79C94B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40005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8D6E47"/>
                </a:solidFill>
              </a:defRPr>
            </a:pPr>
            <a:r>
              <a:t>학습 효과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17BBCE5-E586-4FB5-978C-4C4786FCA91B}"/>
              </a:ext>
            </a:extLst>
          </p:cNvPr>
          <p:cNvSpPr>
            <a:spLocks noGrp="1"/>
          </p:cNvSpPr>
          <p:nvPr/>
        </p:nvSpPr>
        <p:spPr>
          <a:xfrm>
            <a:off x="628650" y="937260"/>
            <a:ext cx="7239000" cy="3200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2F261C"/>
                </a:solidFill>
              </a:defRPr>
            </a:pPr>
            <a:r>
              <a:t>플레이어가 실제로 얻게 되는 이해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90F905-A0B3-4502-867D-2A42621C4BB1}"/>
              </a:ext>
            </a:extLst>
          </p:cNvPr>
          <p:cNvSpPr>
            <a:spLocks noGrp="1"/>
          </p:cNvSpPr>
          <p:nvPr/>
        </p:nvSpPr>
        <p:spPr>
          <a:xfrm>
            <a:off x="628650" y="1428750"/>
            <a:ext cx="6667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25F49"/>
                </a:solidFill>
              </a:defRPr>
            </a:pPr>
            <a:r>
              <a:t>이 게임은 단순한 정보 전달보다,</a:t>
            </a:r>
          </a:p>
          <a:p>
            <a:pPr>
              <a:defRPr sz="1125">
                <a:solidFill>
                  <a:srgbClr val="725F49"/>
                </a:solidFill>
              </a:defRPr>
            </a:pPr>
            <a:r>
              <a:t>청년농에게 필요한 사고방식이 어떻게 바뀌는지를 만드는 데 초점을 둡니다.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6B361D2-F699-445B-9049-6F023851E053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1714500" cy="28575"/>
          </a:xfrm>
          <a:prstGeom prst="rect">
            <a:avLst/>
          </a:prstGeom>
          <a:solidFill>
            <a:srgbClr val="8D6E47"/>
          </a:solidFill>
          <a:ln w="0">
            <a:solidFill>
              <a:srgbClr val="8D6E47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0E1E572-609E-4143-B7CF-6440C3B88C5A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4857750" cy="2857500"/>
          </a:xfrm>
          <a:prstGeom prst="roundRect">
            <a:avLst>
              <a:gd name="adj" fmla="val 8000"/>
            </a:avLst>
          </a:prstGeom>
          <a:solidFill>
            <a:srgbClr val="F3EADC"/>
          </a:solidFill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CA6803-65B2-45F6-9351-78DCC850B174}"/>
              </a:ext>
            </a:extLst>
          </p:cNvPr>
          <p:cNvSpPr>
            <a:spLocks noGrp="1"/>
          </p:cNvSpPr>
          <p:nvPr/>
        </p:nvSpPr>
        <p:spPr>
          <a:xfrm>
            <a:off x="895350" y="2409825"/>
            <a:ext cx="4324350" cy="2171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2F261C"/>
                </a:solidFill>
              </a:defRPr>
            </a:pPr>
            <a:r>
              <a:t>게임 전 기대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E6B906B-39C2-41DF-8DF3-A380990F9AFF}"/>
              </a:ext>
            </a:extLst>
          </p:cNvPr>
          <p:cNvSpPr>
            <a:spLocks noGrp="1"/>
          </p:cNvSpPr>
          <p:nvPr/>
        </p:nvSpPr>
        <p:spPr>
          <a:xfrm>
            <a:off x="895350" y="2798445"/>
            <a:ext cx="4324350" cy="7315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2F261C"/>
                </a:solidFill>
              </a:defRPr>
            </a:pPr>
            <a:r>
              <a:t>• 농업은 열심히 하면 되는 일일 것이다</a:t>
            </a:r>
          </a:p>
          <a:p>
            <a:pPr>
              <a:defRPr sz="1200">
                <a:solidFill>
                  <a:srgbClr val="2F261C"/>
                </a:solidFill>
              </a:defRPr>
            </a:pPr>
            <a:r>
              <a:t>• 재배기술만 익히면 운영이 가능할 것이다</a:t>
            </a:r>
          </a:p>
          <a:p>
            <a:pPr>
              <a:defRPr sz="1200">
                <a:solidFill>
                  <a:srgbClr val="2F261C"/>
                </a:solidFill>
              </a:defRPr>
            </a:pPr>
            <a:r>
              <a:t>• 수확이 곧바로 수익으로 이어질 것이다</a:t>
            </a:r>
          </a:p>
          <a:p>
            <a:pPr>
              <a:defRPr sz="1200">
                <a:solidFill>
                  <a:srgbClr val="2F261C"/>
                </a:solidFill>
              </a:defRPr>
            </a:pPr>
            <a:r>
              <a:t>• 장비와 노동은 부수적인 요소일 것이다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1F0B807-2107-4255-9E52-2C5F6E6F90A5}"/>
              </a:ext>
            </a:extLst>
          </p:cNvPr>
          <p:cNvSpPr>
            <a:spLocks noGrp="1"/>
          </p:cNvSpPr>
          <p:nvPr/>
        </p:nvSpPr>
        <p:spPr>
          <a:xfrm>
            <a:off x="5657850" y="2143125"/>
            <a:ext cx="4857750" cy="2857500"/>
          </a:xfrm>
          <a:prstGeom prst="roundRect">
            <a:avLst>
              <a:gd name="adj" fmla="val 8000"/>
            </a:avLst>
          </a:prstGeom>
          <a:solidFill>
            <a:srgbClr val="E7ECD9"/>
          </a:solidFill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C9551E-B715-4301-BA1B-E5A632A83703}"/>
              </a:ext>
            </a:extLst>
          </p:cNvPr>
          <p:cNvSpPr>
            <a:spLocks noGrp="1"/>
          </p:cNvSpPr>
          <p:nvPr/>
        </p:nvSpPr>
        <p:spPr>
          <a:xfrm>
            <a:off x="5924550" y="2409825"/>
            <a:ext cx="4324350" cy="2171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2F261C"/>
                </a:solidFill>
              </a:defRPr>
            </a:pPr>
            <a:r>
              <a:t>게임 후 이해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91156AC-0F02-43CE-B1C9-9B1C804E74E2}"/>
              </a:ext>
            </a:extLst>
          </p:cNvPr>
          <p:cNvSpPr>
            <a:spLocks noGrp="1"/>
          </p:cNvSpPr>
          <p:nvPr/>
        </p:nvSpPr>
        <p:spPr>
          <a:xfrm>
            <a:off x="5924550" y="2798445"/>
            <a:ext cx="4324350" cy="7315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2F261C"/>
                </a:solidFill>
              </a:defRPr>
            </a:pPr>
            <a:r>
              <a:t>• 농업은 연속된 판단과 조정의 일이다</a:t>
            </a:r>
          </a:p>
          <a:p>
            <a:pPr>
              <a:defRPr sz="1200">
                <a:solidFill>
                  <a:srgbClr val="2F261C"/>
                </a:solidFill>
              </a:defRPr>
            </a:pPr>
            <a:r>
              <a:t>• 기술, 자금, 노동, 시기가 함께 움직여야 한다</a:t>
            </a:r>
          </a:p>
          <a:p>
            <a:pPr>
              <a:defRPr sz="1200">
                <a:solidFill>
                  <a:srgbClr val="2F261C"/>
                </a:solidFill>
              </a:defRPr>
            </a:pPr>
            <a:r>
              <a:t>• 수익 이전에 버티는 운영 감각이 필요하다</a:t>
            </a:r>
          </a:p>
          <a:p>
            <a:pPr>
              <a:defRPr sz="1200">
                <a:solidFill>
                  <a:srgbClr val="2F261C"/>
                </a:solidFill>
              </a:defRPr>
            </a:pPr>
            <a:r>
              <a:t>• 청년농에게는 책임감과 계획성이 핵심 자산이다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0FBCE2D-08D1-4523-A7F8-049AE70124F8}"/>
              </a:ext>
            </a:extLst>
          </p:cNvPr>
          <p:cNvSpPr>
            <a:spLocks noGrp="1"/>
          </p:cNvSpPr>
          <p:nvPr/>
        </p:nvSpPr>
        <p:spPr>
          <a:xfrm>
            <a:off x="628650" y="5172075"/>
            <a:ext cx="10934700" cy="552450"/>
          </a:xfrm>
          <a:prstGeom prst="roundRect">
            <a:avLst>
              <a:gd name="adj" fmla="val 27586"/>
            </a:avLst>
          </a:prstGeom>
          <a:solidFill>
            <a:srgbClr val="FFFAF2"/>
          </a:solidFill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B1CFC8-307E-4E4C-BAA1-7F69352FF323}"/>
              </a:ext>
            </a:extLst>
          </p:cNvPr>
          <p:cNvSpPr>
            <a:spLocks noGrp="1"/>
          </p:cNvSpPr>
          <p:nvPr/>
        </p:nvSpPr>
        <p:spPr>
          <a:xfrm>
            <a:off x="628650" y="5172075"/>
            <a:ext cx="99060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2F261C"/>
                </a:solidFill>
              </a:defRPr>
            </a:pPr>
            <a:r>
              <a:t>이 변화가 바로 ‘창농마인드’와 연결됩니다. 농업을 이상이 아닌 현실 속 실행 과제로 받아들이게 만들기 때문입니다.</a:t>
            </a:r>
          </a:p>
        </p:txBody>
      </p:sp>
    </p:spTree>
    <p:extLst>
      <p:ext uri="{BB962C8B-B14F-4D97-AF65-F5344CB8AC3E}">
        <p14:creationId xmlns:p14="http://schemas.microsoft.com/office/powerpoint/2010/main" val="1392371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01CC90CD-2623-4FD3-9A72-127A9FB94C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3"/>
          </a:solidFill>
        </p:spPr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8039CB0-E76F-4B9D-80B6-C3774EA41382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1811000" cy="6477000"/>
          </a:xfrm>
          <a:prstGeom prst="roundRect">
            <a:avLst>
              <a:gd name="adj" fmla="val 3235"/>
            </a:avLst>
          </a:prstGeom>
          <a:solidFill>
            <a:srgbClr val="FCF8F1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6CFE244-DC05-4F53-81F8-0CE023DD7973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40005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8D6E47"/>
                </a:solidFill>
              </a:defRPr>
            </a:pPr>
            <a:r>
              <a:t>기대효과 및 확장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DF64D38-DB3E-40F2-A425-89D5E0A10A2F}"/>
              </a:ext>
            </a:extLst>
          </p:cNvPr>
          <p:cNvSpPr>
            <a:spLocks noGrp="1"/>
          </p:cNvSpPr>
          <p:nvPr/>
        </p:nvSpPr>
        <p:spPr>
          <a:xfrm>
            <a:off x="628650" y="937260"/>
            <a:ext cx="7239000" cy="3200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solidFill>
                  <a:srgbClr val="2F261C"/>
                </a:solidFill>
              </a:defRPr>
            </a:pPr>
            <a:r>
              <a:t>이 프로젝트가 만들고 싶은 변화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F7821E3-6F40-4BA3-A10C-E24BA76323D3}"/>
              </a:ext>
            </a:extLst>
          </p:cNvPr>
          <p:cNvSpPr>
            <a:spLocks noGrp="1"/>
          </p:cNvSpPr>
          <p:nvPr/>
        </p:nvSpPr>
        <p:spPr>
          <a:xfrm>
            <a:off x="628650" y="1428750"/>
            <a:ext cx="6667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725F49"/>
                </a:solidFill>
              </a:defRPr>
            </a:pPr>
            <a:r>
              <a:t>청년층이 농업을 더 가깝게 느끼도록 하는 것이 목표가 아닙니다.</a:t>
            </a:r>
          </a:p>
          <a:p>
            <a:pPr>
              <a:defRPr sz="1125">
                <a:solidFill>
                  <a:srgbClr val="725F49"/>
                </a:solidFill>
              </a:defRPr>
            </a:pPr>
            <a:r>
              <a:t>농업을 더 진지하게 이해하도록 만드는 것이 목표입니다.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6A46B8D-2419-4AF9-AE93-A4D6D89759F6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1714500" cy="28575"/>
          </a:xfrm>
          <a:prstGeom prst="rect">
            <a:avLst/>
          </a:prstGeom>
          <a:solidFill>
            <a:srgbClr val="8D6E47"/>
          </a:solidFill>
          <a:ln w="0">
            <a:solidFill>
              <a:srgbClr val="8D6E47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350C310-F1ED-444B-939B-2DAA6E73B4DB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3238500" cy="2038350"/>
          </a:xfrm>
          <a:prstGeom prst="roundRect">
            <a:avLst>
              <a:gd name="adj" fmla="val 8411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3FAEC0-794D-49FA-995C-2160C736AE54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기대효과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6E8E82-E0C7-4648-95AC-9B8167F68FA0}"/>
              </a:ext>
            </a:extLst>
          </p:cNvPr>
          <p:cNvSpPr>
            <a:spLocks noGrp="1"/>
          </p:cNvSpPr>
          <p:nvPr/>
        </p:nvSpPr>
        <p:spPr>
          <a:xfrm>
            <a:off x="819150" y="2642235"/>
            <a:ext cx="28575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청년층이 농업을 단순한 환상이 아니라 준비와 책임이 필요한 진로로 이해하게 합니다.</a:t>
            </a:r>
          </a:p>
          <a:p>
            <a:pPr>
              <a:defRPr sz="975">
                <a:solidFill>
                  <a:srgbClr val="725F49"/>
                </a:solidFill>
              </a:defRPr>
            </a:pPr>
            <a:endParaRPr/>
          </a:p>
          <a:p>
            <a:pPr>
              <a:defRPr sz="975">
                <a:solidFill>
                  <a:srgbClr val="725F49"/>
                </a:solidFill>
              </a:defRPr>
            </a:pPr>
            <a:r>
              <a:t>특히 창농 전 단계에서 현실 감각을 높이는 체험형 콘텐츠로 활용할 수 있습니다.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121C7EF-041C-402A-81B2-538E6C977B78}"/>
              </a:ext>
            </a:extLst>
          </p:cNvPr>
          <p:cNvSpPr>
            <a:spLocks noGrp="1"/>
          </p:cNvSpPr>
          <p:nvPr/>
        </p:nvSpPr>
        <p:spPr>
          <a:xfrm>
            <a:off x="4038600" y="2143125"/>
            <a:ext cx="3238500" cy="2038350"/>
          </a:xfrm>
          <a:prstGeom prst="roundRect">
            <a:avLst>
              <a:gd name="adj" fmla="val 8411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AD7344B-3B8D-4762-A476-54B5426C8679}"/>
              </a:ext>
            </a:extLst>
          </p:cNvPr>
          <p:cNvSpPr>
            <a:spLocks noGrp="1"/>
          </p:cNvSpPr>
          <p:nvPr/>
        </p:nvSpPr>
        <p:spPr>
          <a:xfrm>
            <a:off x="4229100" y="23336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활용 방향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3087398-7D5F-47B9-9342-A1080A1B3145}"/>
              </a:ext>
            </a:extLst>
          </p:cNvPr>
          <p:cNvSpPr>
            <a:spLocks noGrp="1"/>
          </p:cNvSpPr>
          <p:nvPr/>
        </p:nvSpPr>
        <p:spPr>
          <a:xfrm>
            <a:off x="4229100" y="2642235"/>
            <a:ext cx="28575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교육 자료, 홍보 콘텐츠, 체험 프로그램과 연결해 예비 청년농에게 간접 경험의 장을 제공할 수 있습니다.</a:t>
            </a:r>
          </a:p>
          <a:p>
            <a:pPr>
              <a:defRPr sz="975">
                <a:solidFill>
                  <a:srgbClr val="725F49"/>
                </a:solidFill>
              </a:defRPr>
            </a:pPr>
            <a:endParaRPr/>
          </a:p>
          <a:p>
            <a:pPr>
              <a:defRPr sz="975">
                <a:solidFill>
                  <a:srgbClr val="725F49"/>
                </a:solidFill>
              </a:defRPr>
            </a:pPr>
            <a:r>
              <a:t>웹기반이라는 점에서 접근성과 확장성도 높습니다.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B997D36-9849-4173-94E3-1B0B11C2752D}"/>
              </a:ext>
            </a:extLst>
          </p:cNvPr>
          <p:cNvSpPr>
            <a:spLocks noGrp="1"/>
          </p:cNvSpPr>
          <p:nvPr/>
        </p:nvSpPr>
        <p:spPr>
          <a:xfrm>
            <a:off x="7448550" y="2143125"/>
            <a:ext cx="3238500" cy="2038350"/>
          </a:xfrm>
          <a:prstGeom prst="roundRect">
            <a:avLst>
              <a:gd name="adj" fmla="val 8411"/>
            </a:avLst>
          </a:prstGeom>
          <a:solidFill>
            <a:srgbClr val="E7ECD9"/>
          </a:solidFill>
          <a:ln w="9525">
            <a:solidFill>
              <a:srgbClr val="C8D4AD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7093F70-07F9-4E48-9630-33EAA07406AD}"/>
              </a:ext>
            </a:extLst>
          </p:cNvPr>
          <p:cNvSpPr>
            <a:spLocks noGrp="1"/>
          </p:cNvSpPr>
          <p:nvPr/>
        </p:nvSpPr>
        <p:spPr>
          <a:xfrm>
            <a:off x="7639050" y="23336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2F261C"/>
                </a:solidFill>
              </a:defRPr>
            </a:pPr>
            <a:r>
              <a:t>향후 계획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6F7BA7A-9C1F-4311-88AF-F03C36A1CFEE}"/>
              </a:ext>
            </a:extLst>
          </p:cNvPr>
          <p:cNvSpPr>
            <a:spLocks noGrp="1"/>
          </p:cNvSpPr>
          <p:nvPr/>
        </p:nvSpPr>
        <p:spPr>
          <a:xfrm>
            <a:off x="7639050" y="2642235"/>
            <a:ext cx="28575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725F49"/>
                </a:solidFill>
              </a:defRPr>
            </a:pPr>
            <a:r>
              <a:t>과수 외 다른 작목으로 확장하고, 더 다양한 운영 상황과 선택지를 추가해 청년농 교육용 시뮬레이션으로 발전시키고자 합니다.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8523AA6-BBD6-4A97-AF3D-4BD7FE3A1B08}"/>
              </a:ext>
            </a:extLst>
          </p:cNvPr>
          <p:cNvSpPr>
            <a:spLocks noGrp="1"/>
          </p:cNvSpPr>
          <p:nvPr/>
        </p:nvSpPr>
        <p:spPr>
          <a:xfrm>
            <a:off x="628650" y="4352925"/>
            <a:ext cx="10934700" cy="552450"/>
          </a:xfrm>
          <a:prstGeom prst="roundRect">
            <a:avLst>
              <a:gd name="adj" fmla="val 27586"/>
            </a:avLst>
          </a:prstGeom>
          <a:solidFill>
            <a:srgbClr val="EFE4D1"/>
          </a:solidFill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6A75D2B-5159-45FA-B25A-7993555A7B73}"/>
              </a:ext>
            </a:extLst>
          </p:cNvPr>
          <p:cNvSpPr>
            <a:spLocks noGrp="1"/>
          </p:cNvSpPr>
          <p:nvPr/>
        </p:nvSpPr>
        <p:spPr>
          <a:xfrm>
            <a:off x="628650" y="4352925"/>
            <a:ext cx="99060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2F261C"/>
                </a:solidFill>
              </a:defRPr>
            </a:pPr>
            <a:r>
              <a:t>이 게임은 농업을 쉽게 보이게 만드는 콘텐츠가 아니라, 청년농이 실제로 가져야 할 판단력과 책임감을 체험하게 만드는 콘텐츠입니다.</a:t>
            </a:r>
          </a:p>
        </p:txBody>
      </p:sp>
    </p:spTree>
    <p:extLst>
      <p:ext uri="{BB962C8B-B14F-4D97-AF65-F5344CB8AC3E}">
        <p14:creationId xmlns:p14="http://schemas.microsoft.com/office/powerpoint/2010/main" val="20194188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853</Words>
  <Application>Microsoft Office PowerPoint</Application>
  <DocSecurity>0</DocSecurity>
  <PresentationFormat>와이드스크린</PresentationFormat>
  <Paragraphs>116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JUNPYO LEE</cp:lastModifiedBy>
  <cp:revision>1</cp:revision>
  <dcterms:created xsi:type="dcterms:W3CDTF">2026-05-22T15:32:12Z</dcterms:created>
  <dcterms:modified xsi:type="dcterms:W3CDTF">2026-05-22T15:55:59Z</dcterms:modified>
</cp:coreProperties>
</file>