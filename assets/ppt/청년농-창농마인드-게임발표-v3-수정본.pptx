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5686f301d4055" /><Relationship Type="http://schemas.openxmlformats.org/officeDocument/2006/relationships/extended-properties" Target="/docProps/app.xml" Id="R538a101a4cd84723" /><Relationship Type="http://schemas.openxmlformats.org/officeDocument/2006/relationships/officeDocument" Target="/ppt/presentation.xml" Id="R2f3ce3191f62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452157ae044367"/>
  </p:sldMasterIdLst>
  <p:notesMasterIdLst>
    <p:notesMasterId xmlns:r="http://schemas.openxmlformats.org/officeDocument/2006/relationships" r:id="Rb2018e78098f4c41"/>
  </p:notesMasterIdLst>
  <p:sldIdLst>
    <p:sldId xmlns:r="http://schemas.openxmlformats.org/officeDocument/2006/relationships" id="256" r:id="R2ec23bc4c4f5406d"/>
    <p:sldId xmlns:r="http://schemas.openxmlformats.org/officeDocument/2006/relationships" id="257" r:id="R973b883463e84164"/>
    <p:sldId xmlns:r="http://schemas.openxmlformats.org/officeDocument/2006/relationships" id="258" r:id="Rea94c1200967429e"/>
    <p:sldId xmlns:r="http://schemas.openxmlformats.org/officeDocument/2006/relationships" id="259" r:id="Rbf0fbd8758d0406e"/>
    <p:sldId xmlns:r="http://schemas.openxmlformats.org/officeDocument/2006/relationships" id="260" r:id="Rf31f5148aed04eae"/>
    <p:sldId xmlns:r="http://schemas.openxmlformats.org/officeDocument/2006/relationships" id="261" r:id="R996f5293572148dc"/>
    <p:sldId xmlns:r="http://schemas.openxmlformats.org/officeDocument/2006/relationships" id="262" r:id="R039ba4ed505449f8"/>
    <p:sldId xmlns:r="http://schemas.openxmlformats.org/officeDocument/2006/relationships" id="263" r:id="R7027c98f004942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52157ae044367" /><Relationship Type="http://schemas.openxmlformats.org/officeDocument/2006/relationships/theme" Target="/ppt/theme/theme1.xml" Id="Rd543fb6eb8a24522" /><Relationship Type="http://schemas.openxmlformats.org/officeDocument/2006/relationships/notesMaster" Target="/ppt/notesMasters/notesMaster1.xml" Id="Rb2018e78098f4c41" /><Relationship Type="http://schemas.openxmlformats.org/officeDocument/2006/relationships/presProps" Target="/ppt/presProps.xml" Id="R804223f286504e83" /><Relationship Type="http://schemas.openxmlformats.org/officeDocument/2006/relationships/viewProps" Target="/ppt/viewProps.xml" Id="R5dec28af7f204d54" /><Relationship Type="http://schemas.openxmlformats.org/officeDocument/2006/relationships/tableStyles" Target="/ppt/tableStyles.xml" Id="R858ef660dfda494f" /><Relationship Type="http://schemas.openxmlformats.org/officeDocument/2006/relationships/slide" Target="/ppt/slides/slide1.xml" Id="R2ec23bc4c4f5406d" /><Relationship Type="http://schemas.openxmlformats.org/officeDocument/2006/relationships/slide" Target="/ppt/slides/slide2.xml" Id="R973b883463e84164" /><Relationship Type="http://schemas.openxmlformats.org/officeDocument/2006/relationships/slide" Target="/ppt/slides/slide3.xml" Id="Rea94c1200967429e" /><Relationship Type="http://schemas.openxmlformats.org/officeDocument/2006/relationships/slide" Target="/ppt/slides/slide4.xml" Id="Rbf0fbd8758d0406e" /><Relationship Type="http://schemas.openxmlformats.org/officeDocument/2006/relationships/slide" Target="/ppt/slides/slide5.xml" Id="Rf31f5148aed04eae" /><Relationship Type="http://schemas.openxmlformats.org/officeDocument/2006/relationships/slide" Target="/ppt/slides/slide6.xml" Id="R996f5293572148dc" /><Relationship Type="http://schemas.openxmlformats.org/officeDocument/2006/relationships/slide" Target="/ppt/slides/slide7.xml" Id="R039ba4ed505449f8" /><Relationship Type="http://schemas.openxmlformats.org/officeDocument/2006/relationships/slide" Target="/ppt/slides/slide8.xml" Id="R7027c98f0049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dcd652cb6dd44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fcf9c4da34ef9" /><Relationship Type="http://schemas.openxmlformats.org/officeDocument/2006/relationships/notesMaster" Target="/ppt/notesMasters/notesMaster1.xml" Id="R9b94e582d4d4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53ee6b63347dc" /><Relationship Type="http://schemas.openxmlformats.org/officeDocument/2006/relationships/notesMaster" Target="/ppt/notesMasters/notesMaster1.xml" Id="R9726f0fb6d3f45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e342bdbddf4800" /><Relationship Type="http://schemas.openxmlformats.org/officeDocument/2006/relationships/notesMaster" Target="/ppt/notesMasters/notesMaster1.xml" Id="Rb00e70ba36ce43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8539a433fb41c5" /><Relationship Type="http://schemas.openxmlformats.org/officeDocument/2006/relationships/notesMaster" Target="/ppt/notesMasters/notesMaster1.xml" Id="R78eb9c74a158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41d73900b4eaa" /><Relationship Type="http://schemas.openxmlformats.org/officeDocument/2006/relationships/notesMaster" Target="/ppt/notesMasters/notesMaster1.xml" Id="R2d50da34f2a4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50bd77bbb4bcb" /><Relationship Type="http://schemas.openxmlformats.org/officeDocument/2006/relationships/notesMaster" Target="/ppt/notesMasters/notesMaster1.xml" Id="Re5b5ffd9a24e45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3dab61cd954e8b" /><Relationship Type="http://schemas.openxmlformats.org/officeDocument/2006/relationships/notesMaster" Target="/ppt/notesMasters/notesMaster1.xml" Id="R6ac2c12cdd664e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956ef3c61e4000" /><Relationship Type="http://schemas.openxmlformats.org/officeDocument/2006/relationships/notesMaster" Target="/ppt/notesMasters/notesMaster1.xml" Id="Rf4d792a06669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f35ef6bb5495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907a02fa2c4bfb" /><Relationship Type="http://schemas.openxmlformats.org/officeDocument/2006/relationships/slideLayout" Target="/ppt/slideLayouts/slideLayout2.xml" Id="Ra0e7a56c15d346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7a56c15d346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a9abf0a2a44f3" /><Relationship Type="http://schemas.openxmlformats.org/officeDocument/2006/relationships/notesSlide" Target="/ppt/notesSlides/notesSlide1.xml" Id="Rc7cd154987ae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ba0116f9584ae1" /><Relationship Type="http://schemas.openxmlformats.org/officeDocument/2006/relationships/notesSlide" Target="/ppt/notesSlides/notesSlide2.xml" Id="Ra29fa567e11b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3b55e53b54548" /><Relationship Type="http://schemas.openxmlformats.org/officeDocument/2006/relationships/notesSlide" Target="/ppt/notesSlides/notesSlide3.xml" Id="Rd7ca6d254327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b7b33f7454887" /><Relationship Type="http://schemas.openxmlformats.org/officeDocument/2006/relationships/notesSlide" Target="/ppt/notesSlides/notesSlide4.xml" Id="R1276c47efc2b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443d7f3b5412a" /><Relationship Type="http://schemas.openxmlformats.org/officeDocument/2006/relationships/notesSlide" Target="/ppt/notesSlides/notesSlide5.xml" Id="Rd0b0ef970d44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2b9887e3774b43" /><Relationship Type="http://schemas.openxmlformats.org/officeDocument/2006/relationships/notesSlide" Target="/ppt/notesSlides/notesSlide6.xml" Id="Rc4edc5a4155943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1683fed754bc9" /><Relationship Type="http://schemas.openxmlformats.org/officeDocument/2006/relationships/notesSlide" Target="/ppt/notesSlides/notesSlide7.xml" Id="R993afaedfdb9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bbfe115784ba5" /><Relationship Type="http://schemas.openxmlformats.org/officeDocument/2006/relationships/notesSlide" Target="/ppt/notesSlides/notesSlide8.xml" Id="R52c4b60f406549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23FAE-3048-4C63-B0FA-C7DFEC6D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42B01-808B-4F51-885A-C59FE207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7397115"/>
          </a:xfrm>
          <a:prstGeom xmlns:a="http://schemas.openxmlformats.org/drawingml/2006/main" prst="roundRect">
            <a:avLst>
              <a:gd name="adj" fmla="val 2833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C444B-6E35-40AE-A6A5-EDBD7A2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2026 청년농 성공농업 노하우 콘테스트 / ④ 창농마인드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2B1D0-E80A-4B47-B355-E785BAB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실제 창농 준비 과정에서</a:t>
            </a:r>
          </a:p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직접 만든 과수 시뮬레이션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6132C-5749-4A9D-98F9-445FE3C1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8790"/>
            <a:ext cx="666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저는 올해 초 청년창업농에 선정되어 사과 과수업을 준비하고 있습니다.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2026년 7월 육성자금 배정을 앞두고 있으며, 토지를 매입해 제 토지에서 다축묘 방식의 과수 경영을 시작할 계획입니다.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B2BA4-5B11-48F1-A2C8-BC706417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459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A4E20-ABF6-40EA-9C0B-8CC15E93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4615"/>
            <a:ext cx="47625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2E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14A13-1D98-4183-B798-0031D20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1315"/>
            <a:ext cx="42291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저의 실제 준비 상황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819A4-B6CF-4206-87A1-B1914454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9935"/>
            <a:ext cx="42291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F261C"/>
                </a:solidFill>
              </a:defRPr>
            </a:pPr>
            <a:r>
              <a:t>• 올해 초 청년창업농 선정</a:t>
            </a:r>
          </a:p>
          <a:p xmlns:a="http://schemas.openxmlformats.org/drawingml/2006/main">
            <a:pPr>
              <a:defRPr sz="1500">
                <a:solidFill>
                  <a:srgbClr val="2F261C"/>
                </a:solidFill>
              </a:defRPr>
            </a:pPr>
            <a:r>
              <a:t>• 사과 과수업 준비 중</a:t>
            </a:r>
          </a:p>
          <a:p xmlns:a="http://schemas.openxmlformats.org/drawingml/2006/main">
            <a:pPr>
              <a:defRPr sz="1500">
                <a:solidFill>
                  <a:srgbClr val="2F261C"/>
                </a:solidFill>
              </a:defRPr>
            </a:pPr>
            <a:r>
              <a:t>• 2026년 7월 육성자금 배정 예정</a:t>
            </a:r>
          </a:p>
          <a:p xmlns:a="http://schemas.openxmlformats.org/drawingml/2006/main">
            <a:pPr>
              <a:defRPr sz="1500">
                <a:solidFill>
                  <a:srgbClr val="2F261C"/>
                </a:solidFill>
              </a:defRPr>
            </a:pPr>
            <a:r>
              <a:t>• 토지 매입 후 다축묘 과원 조성 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222BE-71DE-4A0B-9135-45C5CF2B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4615"/>
            <a:ext cx="55245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0E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B1D2B-A404-4E5C-AB93-86843F17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01315"/>
            <a:ext cx="49911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발표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69E52-0B72-4F73-BBD2-4DE811A4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89935"/>
            <a:ext cx="49911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이 프로젝트는 단순한 취미 게임이 아닙니다.</a:t>
            </a:r>
          </a:p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실제 청년농으로서 농장을 어떻게 시작하고 어떤 판단을 해야 하는지 고민한 과정을, AI 코딩을 배우며 직접 게임으로 구현한 결과물입니다.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248DA-C0EB-4F4E-8A33-BEF5061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1565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CD9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01062-365B-4B28-BECA-E31A9A5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1565"/>
            <a:ext cx="12001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750"/>
                </a:solidFill>
              </a:defRPr>
            </a:pPr>
            <a:r>
              <a:t>실제 창농 준비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7E96E-13D8-458D-A8A7-2DEF03A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01565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8C1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8645C-DD01-47C7-A5CB-109E5B88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01565"/>
            <a:ext cx="12001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61C"/>
                </a:solidFill>
              </a:defRPr>
            </a:pPr>
            <a:r>
              <a:t>사과 과수업 계획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1D0F3-F6EE-48C1-83BC-970D6B3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01565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0E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CC7BC-4EF8-4187-ADAF-405C671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01565"/>
            <a:ext cx="112395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AI 코딩 제작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DD6D9-96C7-49AA-AD12-1F401F55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7815"/>
            <a:ext cx="32385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5D0FB-E824-42FD-8194-18794E8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831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현재 상황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0F69C-ED25-4148-8848-C4C55984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76925"/>
            <a:ext cx="28575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청년창업농 선정 이후 사과 과수업을 준비 중이며, 육성자금 배정과 토지 매입, 다축묘 과원 조성을 실제 계획으로 진행하고 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FAAC7-0213-4A42-B0A9-4FC47569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77815"/>
            <a:ext cx="32385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9B337-0BD0-4ECC-92A9-5EAE726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6831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만든 이유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34C57-0C34-4599-A917-E144D04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76925"/>
            <a:ext cx="28575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창농을 준비하며 느낀 판단 구조를 정리하고, 농업의 현실을 체험형으로 이해할 수 있는 방식이 필요해 게임으로 구현했습니다.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499E4-9E23-4D6B-9505-42D57BEC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77815"/>
            <a:ext cx="32385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E4D1"/>
          </a:solidFill>
          <a:ln xmlns:a="http://schemas.openxmlformats.org/drawingml/2006/main" w="9525">
            <a:solidFill>
              <a:srgbClr val="D3BEA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76E6D-362C-4B2E-AE00-447E5A07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831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발표 흐름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E3AD5-91A9-469D-A8DD-0150AE58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876925"/>
            <a:ext cx="28575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이후 슬라이드에서 경영 난이도와 토지 선택 화면을 통해, 실제 창농 과정에서 어떤 판단이 필요한지 단계별로 설명하겠습니다.</a:t>
            </a:r>
          </a:p>
        </p:txBody>
      </p:sp>
    </p:spTree>
    <p:extLst>
      <p:ext uri="{BB962C8B-B14F-4D97-AF65-F5344CB8AC3E}">
        <p14:creationId xmlns:p14="http://schemas.microsoft.com/office/powerpoint/2010/main" val="228594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A6142-F9A9-4DC1-A74F-A4F06DC5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699E-B1AE-47E9-A49E-2B4E527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920865"/>
          </a:xfrm>
          <a:prstGeom xmlns:a="http://schemas.openxmlformats.org/drawingml/2006/main" prst="roundRect">
            <a:avLst>
              <a:gd name="adj" fmla="val 3028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C9B3D-0B33-49B1-BA47-F76D358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도입 2 / 왜 이 게임을 만들었는가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F22D7-C870-4119-B7DD-0321ECD8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농업은 시작부터</a:t>
            </a:r>
          </a:p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경영 판단의 연속입니다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3ED36-D4B1-43D3-9742-3168BDB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879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저는 실제 창농을 준비하면서 자금, 대출, 신용, 토지 조건 같은 요소가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재배 이전부터 중요한 판단이라는 점을 체감했고, 그 구조를 게임으로 정리하고 싶었습니다.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A1787-665A-4CB3-A0F8-D0D9B045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314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8C010-4425-4752-AC68-ADF57F07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3165"/>
            <a:ext cx="3714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FE4D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3D06A-9C45-4962-A497-E42AD644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9865"/>
            <a:ext cx="31813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개발 배경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40914-F528-4E3F-9DFC-0E61045E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8485"/>
            <a:ext cx="318135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취미로 AI 코딩을 배우던 과정에서,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실제 과수 창업 준비 중 마주한 고민을 직접 구현해 보기로 했습니다.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그 결과, 청년농이 어떤 조건으로 출발하고 어떤 위험을 먼저 계산해야 하는지 체험할 수 있는 게임을 만들게 되었습니다.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19FB5-85CA-4F7C-B4AB-0D72E681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63165"/>
            <a:ext cx="61912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9AF00-4B7F-48AD-9039-7711B3B5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3665"/>
            <a:ext cx="5810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01 실제 준비 경험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F4CDB-1A32-4FAF-B85C-9EC83173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62275"/>
            <a:ext cx="58102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육성자금, 토지 매입, 작목 운영을 고민하는 과정에서 필요한 판단 요소를 게임의 시작 구조에 반영했습니다.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639FD-6B7E-4A75-BE69-E539725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25215"/>
            <a:ext cx="61912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C9C5B-F50B-4EB0-8A25-AD45BB3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5715"/>
            <a:ext cx="5810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02 경영 감각 우선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CD807-38C8-4EDB-911F-3096E36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24325"/>
            <a:ext cx="58102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플레이어는 재배보다 먼저 초기자금, 운영대출, 신용 수준, 시작 조건을 함께 고려하며 출발하게 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A9C4-04E8-440C-B52B-DC16869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87265"/>
            <a:ext cx="6191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2FDCD-DCE4-4DAC-A1F0-B8E211A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77765"/>
            <a:ext cx="58102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03 창농마인드와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A8C6A-FAB5-46A2-A3D9-EC49FA40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86375"/>
            <a:ext cx="58102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이 구조는 농업이 단순 생산이 아니라 계획, 선택, 책임이 필요한 일이라는 점을 자연스럽게 체험하게 만듭니다.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E8ADC-931B-4722-967C-6CEB74E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0765"/>
            <a:ext cx="10934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7F1E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0C3B7-B633-4A79-9F75-C18E55F8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0765"/>
            <a:ext cx="9906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이 게임은 예쁜 농장 꾸미기보다 먼저, 청년농이 어떤 조건으로 출발할지 고민하게 만드는 콘텐츠입니다.</a:t>
            </a:r>
          </a:p>
        </p:txBody>
      </p:sp>
    </p:spTree>
    <p:extLst>
      <p:ext uri="{BB962C8B-B14F-4D97-AF65-F5344CB8AC3E}">
        <p14:creationId xmlns:p14="http://schemas.microsoft.com/office/powerpoint/2010/main" val="15339771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95842-7C67-4548-971D-A1E8F20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A95E4-2A23-496A-BDF8-283B7724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477000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01E79-FB70-42B0-B3CE-43479054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도입 3 / 토지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1613D-F73C-4509-AC41-DE8A544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창농은 땅을 고르는 순간부터</a:t>
            </a:r>
          </a:p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현실 판단이 시작됩니다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2227C-8B98-4D70-9127-3525010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879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플레이어는 필지 가격만이 아니라 경사, 지하수, 잔여 현금,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접근성까지 함께 고려하며 첫 농장 입지를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F4DC5-152C-452E-9D9A-4CE1F78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314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0A3C1-43A3-452A-9C58-3784A60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3165"/>
            <a:ext cx="23622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C45CB-CA2E-4292-B1A2-503954EE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366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01 필지 가격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4EA72-312F-493A-B9CC-107E4210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첫 토지의 매입 가격은 이후 남는 현금과 초기 운영 여력을 직접 바꿔 놓습니다.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5FE2C-37C0-44CA-B1BE-4283FA40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63165"/>
            <a:ext cx="23622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9760A-E050-4175-9DAA-D81670E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5366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02 경사와 지형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200BF-FAEF-42C8-A65F-3864DEAD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6227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같은 면적이라도 경사와 지형에 따라 작업 편의성과 운영 부담이 달라질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EE641-F6F7-4EDA-AEFC-84E71557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63165"/>
            <a:ext cx="23622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BF5DA-FB61-49D8-862C-CD43ED6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5366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03 지하수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5D647-1669-4CD8-A525-35B68D27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62275"/>
            <a:ext cx="19812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지하수 기본량은 장기 재배 운영의 안정성과 연결되는 핵심 자원입니다.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5608A-831A-4D08-A829-409B589D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63165"/>
            <a:ext cx="23622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BA066-E5D4-4522-A328-70D9FD6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5366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04 잔여 현금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3F748-5299-428C-A807-F3F901EF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6227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땅을 사고 남는 현금이 적으면 곧바로 다음 선택의 폭도 좁아지게 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FA469-385F-4BBA-A67C-0225D675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2915"/>
            <a:ext cx="10934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4D1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DEBC9-1307-47CF-9AB7-CD4B89E0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2915"/>
            <a:ext cx="9906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이 게임은 첫 필지 선택부터 현실적인 농장 의사결정을 요구합니다.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608E5-615D-410F-BF0C-CE7FD823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6815"/>
            <a:ext cx="4953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7ECD9"/>
          </a:solidFill>
          <a:ln xmlns:a="http://schemas.openxmlformats.org/drawingml/2006/main" w="9525">
            <a:solidFill>
              <a:srgbClr val="C8D4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D519C-6191-4E10-8255-F6FE2A4B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7315"/>
            <a:ext cx="457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현실성의 출발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ED7B9-6872-43B0-AB22-435DA01A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45720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농장 시작은 단순 배치가 아니라 토지와 자원 배분에 대한 판단이라는 점을 보여줍니다.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36B7F-65BC-4E1B-AEB4-9FA2C421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96815"/>
            <a:ext cx="4953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EADC"/>
          </a:solidFill>
          <a:ln xmlns:a="http://schemas.openxmlformats.org/drawingml/2006/main" w="9525">
            <a:solidFill>
              <a:srgbClr val="E0CFB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A3810-AC02-4BE1-A7DB-8393DCF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7315"/>
            <a:ext cx="457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창농마인드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DD46D-E5B5-432F-82F5-5B913A90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95925"/>
            <a:ext cx="45720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청년농이 농업을 준비성과 책임감이 필요한 일로 받아들이게 만드는 구조입니다.</a:t>
            </a:r>
          </a:p>
        </p:txBody>
      </p:sp>
    </p:spTree>
    <p:extLst>
      <p:ext uri="{BB962C8B-B14F-4D97-AF65-F5344CB8AC3E}">
        <p14:creationId xmlns:p14="http://schemas.microsoft.com/office/powerpoint/2010/main" val="1174547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0B4FD9-3AAA-4C40-9B02-6E89931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0D7A8-D87E-4304-9FA5-6F5F9DA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477000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FE264-CC83-4572-9232-085CD67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게임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01175-6793-4962-B126-B715730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현실형 과수 농장 시뮬레이션의 핵심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1DB92-5D5A-4AD6-9D40-5BC2ECA6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플레이어는 단순한 수확 반복이 아니라,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농장 운영 전반을 연결된 시스템으로 경험하게 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83FC1-F36F-45FD-91D1-97E4E24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8E2CF-6570-4B2F-ABAE-029FFF45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3622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6F558-1FAE-4E4F-96F0-4DE2B934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재배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0B69E-F775-470F-B5DA-3137CA38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223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묘목 식재, 생육 단계, 적과, 방제, 수확 시기 같은 재배 흐름을 직접 다룹니다.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DD4D0-FD57-449D-8981-76BF474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43125"/>
            <a:ext cx="23622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5DC20-3ACB-4A90-86CF-DAC42D50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노동 · 장비 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E3A24-4709-42AA-AD7E-CE0B8390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223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작업 인력과 장비 사용이 효율에 영향을 주도록 설계해 현장 운영의 부담을 반영합니다.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3586D-9BB3-4AEA-A9E6-70793A2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3622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C6F5C-8441-4A65-9926-FDAE58DB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계절 · 날씨 변수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FFE19-E087-4B69-9C37-1B5B329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528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농업은 같은 작업도 시기와 환경에 따라 결과가 달라진다는 점을 체감하게 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F42A6-7413-4BF0-A837-4705826C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86175"/>
            <a:ext cx="23622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37808-1290-4AFA-A86F-5F44954A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76675"/>
            <a:ext cx="1981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비용 · 수익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7F1B7-F07C-4C0B-A112-0C51E697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85285"/>
            <a:ext cx="19812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소모품 구매, 작업비, 수확 수익이 연결되어 있어 경영 감각까지 함께 요구합니다.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2E74C-F0DA-4CF1-85D0-362FFB86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43125"/>
            <a:ext cx="5143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FE4D1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18FFF-6189-40C0-A670-A8A0A81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9825"/>
            <a:ext cx="46101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플레이어가 직접 하게 되는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568B1-D115-4E27-AEA9-E592B158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98445"/>
            <a:ext cx="46101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F261C"/>
                </a:solidFill>
              </a:defRPr>
            </a:pPr>
            <a:r>
              <a:t>• 어떤 품종과 묘목을 선택할 것인가</a:t>
            </a:r>
          </a:p>
          <a:p xmlns:a="http://schemas.openxmlformats.org/drawingml/2006/main">
            <a:pPr>
              <a:defRPr sz="1350">
                <a:solidFill>
                  <a:srgbClr val="2F261C"/>
                </a:solidFill>
              </a:defRPr>
            </a:pPr>
            <a:r>
              <a:t>• 지금 작업을 진행할지 기다릴 것인가</a:t>
            </a:r>
          </a:p>
          <a:p xmlns:a="http://schemas.openxmlformats.org/drawingml/2006/main">
            <a:pPr>
              <a:defRPr sz="1350">
                <a:solidFill>
                  <a:srgbClr val="2F261C"/>
                </a:solidFill>
              </a:defRPr>
            </a:pPr>
            <a:r>
              <a:t>• 노동력과 장비를 어디에 우선 배치할 것인가</a:t>
            </a:r>
          </a:p>
          <a:p xmlns:a="http://schemas.openxmlformats.org/drawingml/2006/main">
            <a:pPr>
              <a:defRPr sz="1350">
                <a:solidFill>
                  <a:srgbClr val="2F261C"/>
                </a:solidFill>
              </a:defRPr>
            </a:pPr>
            <a:r>
              <a:t>• 비용을 감수하고 품질을 높일지 보수적으로 갈 것인가</a:t>
            </a:r>
          </a:p>
          <a:p xmlns:a="http://schemas.openxmlformats.org/drawingml/2006/main">
            <a:pPr>
              <a:defRPr sz="1350">
                <a:solidFill>
                  <a:srgbClr val="2F261C"/>
                </a:solidFill>
              </a:defRPr>
            </a:pPr>
            <a:r>
              <a:t>• 계절 변화에 맞춰 다음 단계 운영을 어떻게 조정할 것인가</a:t>
            </a:r>
          </a:p>
        </p:txBody>
      </p:sp>
    </p:spTree>
    <p:extLst>
      <p:ext uri="{BB962C8B-B14F-4D97-AF65-F5344CB8AC3E}">
        <p14:creationId xmlns:p14="http://schemas.microsoft.com/office/powerpoint/2010/main" val="19763641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D693CD-6CA9-4E5F-92E2-423AF3A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5F139-FA2F-4DB8-89D1-BA3ADFEA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477000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005E7-2DA9-47B0-AFA1-BE9A717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현실성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CEB0A-0542-425D-9162-5CBE3691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게임 안에 반영한 현실형 농업 요소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2CC6C-1876-4939-BFFD-D6A32CB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이 프로젝트는 농업을 단순화하는 대신,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과수 운영에서 실제로 중요한 판단 요소들을 시스템 안에 녹여냈습니다.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B5887-77F4-4A89-A2C8-0F1559F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CA3AD-5278-4EBA-80D3-D5881E2C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2385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22B0C-7A51-4E21-8EDD-3ECE5CAE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작업 시기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D8814-29AE-4799-9250-CE3065A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2235"/>
            <a:ext cx="28575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같은 작업도 언제 하느냐에 따라 의미가 달라진다는 과수 운영 특성을 반영했습니다.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77DD8-49CA-42B1-A891-1F1C4AA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32385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2B6C7-0904-4E9D-9029-F4D7C78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생육과 재배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439F1-F015-4B79-BF20-96EE85DC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42235"/>
            <a:ext cx="28575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묘목 단계부터 관리와 수확까지 이어지는 장기 흐름을 단절 없이 경험하게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44CCD-88B1-4820-B79E-48811ED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43125"/>
            <a:ext cx="32385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EA06A-6D0E-49BD-8277-ECF6EF7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노동력의 한계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3E018-2BF6-48E0-9769-966792E2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2235"/>
            <a:ext cx="28575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사람과 시간은 항상 부족할 수 있다는 현실을 넣어 우선순위 판단을 요구합니다.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FDF7D-3EFC-4649-B246-2448AEA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32385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3B47E-BBBD-4D72-A934-D719DE1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장비와 소모품 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E5735-D7C0-4648-A76F-5D90D19D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8135"/>
            <a:ext cx="28575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재배는 손기술만으로 끝나지 않고 장비·소모품 선택이 결과에 연결되도록 설계했습니다.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88ADD-4682-4898-B913-D4DE4F9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32385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2C205-27A3-4A20-8FED-B56E0C56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95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계절 · 날씨 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FE3FF-9FF6-4298-9E35-4AF32C93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28135"/>
            <a:ext cx="28575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농사는 달력과 날씨를 무시하고 진행할 수 없다는 점을 플레이 흐름에 반영했습니다.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CE865-039B-4718-A1BE-99A927E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29025"/>
            <a:ext cx="32385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CE392-943B-45FF-8666-1D2352F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195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비용과 수익 계산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D4948-2E50-49C2-8E7E-E883DD0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28135"/>
            <a:ext cx="28575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좋은 재배 판단도 자금 흐름과 연결되지 않으면 지속되기 어렵다는 경영 현실을 담았습니다.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D29B1-3438-4270-8EE8-4926D08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14925"/>
            <a:ext cx="10934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4D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75620-FA18-47DF-B1C5-39DB5A4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14925"/>
            <a:ext cx="9906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결국 이 게임의 현실성은 ‘보이는 농업’이 아니라 ‘판단해야 하는 농업’을 만든 데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4602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01CEE1-D281-4F68-A3D9-0467300B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4A2B3-5D51-4177-8669-EF51147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477000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DEC42-285F-4B7D-9BAF-31CD729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학습 효과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1B84F-A593-4DC5-B8AE-87786C09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플레이어가 실제로 얻게 되는 이해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ECDFA-B85E-4017-BD84-38AD864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이 게임은 단순한 정보 전달보다,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청년농에게 필요한 사고방식이 어떻게 바뀌는지를 만드는 데 초점을 둡니다.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63C93-B7A9-4E8F-9FAD-D55A118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3CA07-5E57-4C98-9073-09448C68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48577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AD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205D6-08EC-4B01-BB78-8D34AFB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43243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게임 전 기대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D7C76-FE31-42A4-8FA8-33CA6364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8445"/>
            <a:ext cx="432435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농업은 열심히 하면 되는 일일 것이다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재배기술만 익히면 운영이 가능할 것이다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수확이 곧바로 수익으로 이어질 것이다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장비와 노동은 부수적인 요소일 것이다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4F6F0-7FDE-4FA9-A9C5-61A08DE7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43125"/>
            <a:ext cx="48577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CD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0E74A-84BF-47C2-B5E8-450E05C4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9825"/>
            <a:ext cx="432435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게임 후 이해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14138-9063-4CCF-A5B8-F79F36C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98445"/>
            <a:ext cx="432435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농업은 연속된 판단과 조정의 일이다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기술, 자금, 노동, 시기가 함께 움직여야 한다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수익 이전에 버티는 운영 감각이 필요하다</a:t>
            </a:r>
          </a:p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• 청년농에게는 책임감과 계획성이 핵심 자산이다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711B1-BAB6-4738-A353-D031A3F3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0934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A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D37CF-390E-41C2-AF1C-C7C54DD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9906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이 변화가 바로 ‘창농마인드’와 연결됩니다. 농업을 이상이 아닌 현실 속 실행 과제로 받아들이게 만들기 때문입니다.</a:t>
            </a:r>
          </a:p>
        </p:txBody>
      </p:sp>
    </p:spTree>
    <p:extLst>
      <p:ext uri="{BB962C8B-B14F-4D97-AF65-F5344CB8AC3E}">
        <p14:creationId xmlns:p14="http://schemas.microsoft.com/office/powerpoint/2010/main" val="18734459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302AD-64D3-4E99-A530-6A4C2C56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DEF7A-A1F0-4685-9E4F-C33227E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772275"/>
          </a:xfrm>
          <a:prstGeom xmlns:a="http://schemas.openxmlformats.org/drawingml/2006/main" prst="roundRect">
            <a:avLst>
              <a:gd name="adj" fmla="val 3094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F37FA-103F-45DF-9649-6D62452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응모 분야 적합성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7537E-AC2B-4CD5-80FB-37A93EE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왜 이 프로젝트는 ④ 창농마인드에 가장 적합한가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BF846-DE5D-40FF-999F-EB94B40A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게임의 강점은 특정 기술 한 가지보다,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청년농이 농업을 바라보는 태도와 판단력을 형성하게 만드는 데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E4F7-5CCB-409F-AE30-CBF902FA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726CD-0408-46A3-B95B-27DEB1D1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85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FFF02-A7E0-4F84-B32D-2CB6E3E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6477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① 스마트팜시설구축 / 중간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F9D8F-FE17-42B3-A4CC-26AF996C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2235"/>
            <a:ext cx="64770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자동화 설비 자체보다 운영 판단 경험이 중심이어서 주력 분야로 보기에는 약합니다.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411A4-0006-44E2-9792-70244C56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685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C7FDB-37BD-412E-A162-3002D084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6477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② 영농재배기술 / 높음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9D96C-8D7E-41D6-B96B-A3996F6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8535"/>
            <a:ext cx="64770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재배 흐름과 작업 시기를 담고 있어 연관성은 크지만, 핵심 메시지는 기술 교육보다 태도 형성에 가깝습니다.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C6179-7E04-4392-93F9-5AF9879B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685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9482C-FF31-41CE-87DD-5849C2E5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6477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③ 지역사회유대 / 낮음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1D8F3-D1C4-45B9-8444-1D9DE84D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4835"/>
            <a:ext cx="64770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지역 협업이나 공동체 관계가 메인 구조는 아니므로 적합도가 낮습니다.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1B8C4-8588-41A5-B85B-1575E34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6858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7ECD9"/>
          </a:solidFill>
          <a:ln xmlns:a="http://schemas.openxmlformats.org/drawingml/2006/main" w="9525">
            <a:solidFill>
              <a:srgbClr val="C8D4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CF106-6656-4558-8CF1-874E615B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62525"/>
            <a:ext cx="6477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④ 창농마인드 / 매우 높음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AB51F-FBB3-40BD-8544-1F3CBDB1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1135"/>
            <a:ext cx="64770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농업을 현실적으로 이해하고, 스스로 판단하며, 실패와 조정을 반복하는 태도를 체험하게 만든다는 점이 핵심입니다.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B8A02-C2E3-4CD4-A0D7-5AC7B94A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685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1362B-D1F5-4933-9274-3AFC6D7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6477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⑤ 판로개척 / 낮음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3AA18-A498-4A4B-B6ED-197ABF42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61735"/>
            <a:ext cx="64770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판매 전략이나 유통 구조보다 농장 운영과 창농 이해가 중심입니다.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1E43E-25B8-4CCE-9A92-93F6BE14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43125"/>
            <a:ext cx="3048000" cy="4267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FE4D1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54DFC-2EC6-4DE0-B4EF-76E887C2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2514600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F261C"/>
                </a:solidFill>
              </a:defRPr>
            </a:pPr>
            <a:r>
              <a:t>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25908-1214-4368-B27A-74E3D116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98445"/>
            <a:ext cx="25146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>1순위</a:t>
            </a:r>
          </a:p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>④ 창농마인드</a:t>
            </a:r>
          </a:p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>2순위</a:t>
            </a:r>
          </a:p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>② 영농재배기술</a:t>
            </a:r>
          </a:p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2F261C"/>
                </a:solidFill>
              </a:defRPr>
            </a:pPr>
            <a:r>
              <a:t>발표와 신청서 모두 ‘청년농의 현실 판단력 형성’에 초점을 맞추는 것이 가장 설득력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524438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16FCC-79F5-4D70-A31C-935F83F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31CB8-580B-4EB4-B620-871F3111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811000" cy="6477000"/>
          </a:xfrm>
          <a:prstGeom xmlns:a="http://schemas.openxmlformats.org/drawingml/2006/main" prst="roundRect">
            <a:avLst>
              <a:gd name="adj" fmla="val 3235"/>
            </a:avLst>
          </a:prstGeom>
          <a:solidFill xmlns:a="http://schemas.openxmlformats.org/drawingml/2006/main">
            <a:srgbClr val="FCF8F1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050C4-0454-4E06-A790-6129814E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005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6E47"/>
                </a:solidFill>
              </a:defRPr>
            </a:pPr>
            <a:r>
              <a:t>기대효과 및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30299-8A5B-490F-8E1B-3CFB5D3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7260"/>
            <a:ext cx="72390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F261C"/>
                </a:solidFill>
              </a:defRPr>
            </a:pPr>
            <a:r>
              <a:t>이 프로젝트가 만들고 싶은 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3AA7-B3AB-4782-9041-E4DFC88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청년층이 농업을 더 가깝게 느끼도록 하는 것이 목표가 아닙니다.</a:t>
            </a:r>
          </a:p>
          <a:p xmlns:a="http://schemas.openxmlformats.org/drawingml/2006/main">
            <a:pPr>
              <a:defRPr sz="1125">
                <a:solidFill>
                  <a:srgbClr val="725F49"/>
                </a:solidFill>
              </a:defRPr>
            </a:pPr>
            <a:r>
              <a:t>농업을 더 진지하게 이해하도록 만드는 것이 목표입니다.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772D8-4112-4102-AE03-D7829B11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E47"/>
          </a:solidFill>
          <a:ln xmlns:a="http://schemas.openxmlformats.org/drawingml/2006/main" w="0">
            <a:solidFill>
              <a:srgbClr val="8D6E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2DB40-1918-469B-AF75-FA954970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2385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E5B34-B115-4D67-A71A-836BC75A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기대효과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E05F1-C899-4D74-B93D-95200F9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2235"/>
            <a:ext cx="2857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청년층이 농업을 단순한 환상이 아니라 준비와 책임이 필요한 진로로 이해하게 합니다.</a:t>
            </a:r>
          </a:p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특히 창농 전 단계에서 현실 감각을 높이는 체험형 콘텐츠로 활용할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1C64A-EF80-4712-A6B3-A7E6C03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43125"/>
            <a:ext cx="32385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5EDE0"/>
          </a:solidFill>
          <a:ln xmlns:a="http://schemas.openxmlformats.org/drawingml/2006/main" w="9525">
            <a:solidFill>
              <a:srgbClr val="D7C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B302A-A689-4AC0-B1D2-E0DEAF22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활용 방향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32A61-8DAE-41DF-9A7D-0A5BE5E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2235"/>
            <a:ext cx="2857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교육 자료, 홍보 콘텐츠, 체험 프로그램과 연결해 예비 청년농에게 간접 경험의 장을 제공할 수 있습니다.</a:t>
            </a:r>
          </a:p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웹기반이라는 점에서 접근성과 확장성도 높습니다.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2EE52-B0E8-4352-8285-C98A5F39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32385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E7ECD9"/>
          </a:solidFill>
          <a:ln xmlns:a="http://schemas.openxmlformats.org/drawingml/2006/main" w="9525">
            <a:solidFill>
              <a:srgbClr val="C8D4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E55C3-4540-4AD0-A0D8-4D32B580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33625"/>
            <a:ext cx="28575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61C"/>
                </a:solidFill>
              </a:defRPr>
            </a:pPr>
            <a:r>
              <a:t>향후 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222ED-6BDF-43EB-A2D3-0D3BF8CE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2235"/>
            <a:ext cx="285750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25F49"/>
                </a:solidFill>
              </a:defRPr>
            </a:pPr>
            <a:r>
              <a:t>과수 외 다른 작목으로 확장하고, 더 다양한 운영 상황과 선택지를 추가해 청년농 교육용 시뮬레이션으로 발전시키고자 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56D58-5517-4AA0-950E-71143FE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10934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4D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AE417-0E04-49FC-A1FB-83EECD03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9906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F261C"/>
                </a:solidFill>
              </a:defRPr>
            </a:pPr>
            <a:r>
              <a:t>이 게임은 농업을 쉽게 보이게 만드는 콘텐츠가 아니라, 청년농이 실제로 가져야 할 판단력과 책임감을 체험하게 만드는 콘텐츠입니다.</a:t>
            </a:r>
          </a:p>
        </p:txBody>
      </p:sp>
    </p:spTree>
    <p:extLst>
      <p:ext uri="{BB962C8B-B14F-4D97-AF65-F5344CB8AC3E}">
        <p14:creationId xmlns:p14="http://schemas.microsoft.com/office/powerpoint/2010/main" val="1794400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2026-05-22T15:46:16.2810000Z</dcterms:created>
  <dcterms:modified xsi:type="dcterms:W3CDTF">2026-05-22T15:46:16.2810000Z</dcterms:modified>
</coreProperties>
</file>